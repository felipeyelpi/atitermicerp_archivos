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61" r:id="rId5"/>
    <p:sldId id="288" r:id="rId6"/>
    <p:sldId id="289" r:id="rId7"/>
    <p:sldId id="290" r:id="rId8"/>
    <p:sldId id="291" r:id="rId9"/>
    <p:sldId id="294" r:id="rId10"/>
    <p:sldId id="297" r:id="rId11"/>
    <p:sldId id="298" r:id="rId12"/>
    <p:sldId id="293" r:id="rId13"/>
    <p:sldId id="292" r:id="rId14"/>
    <p:sldId id="299" r:id="rId15"/>
    <p:sldId id="300" r:id="rId16"/>
    <p:sldId id="301" r:id="rId17"/>
    <p:sldId id="296" r:id="rId18"/>
    <p:sldId id="302" r:id="rId19"/>
  </p:sldIdLst>
  <p:sldSz cx="9144000" cy="6858000" type="letter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Valenzuela Concha" initials="MVC" lastIdx="1" clrIdx="0">
    <p:extLst>
      <p:ext uri="{19B8F6BF-5375-455C-9EA6-DF929625EA0E}">
        <p15:presenceInfo xmlns:p15="http://schemas.microsoft.com/office/powerpoint/2012/main" userId="S-1-5-21-993326457-1990213774-629508014-60950" providerId="AD"/>
      </p:ext>
    </p:extLst>
  </p:cmAuthor>
  <p:cmAuthor id="2" name="Manuel Valenzuela Concha" initials="MVC [2]" lastIdx="1" clrIdx="1">
    <p:extLst>
      <p:ext uri="{19B8F6BF-5375-455C-9EA6-DF929625EA0E}">
        <p15:presenceInfo xmlns:p15="http://schemas.microsoft.com/office/powerpoint/2012/main" userId="S::manuel.valenzuela@unab.cl::63540914-dbe4-4c70-a8f0-0e52a38a1d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E30000"/>
    <a:srgbClr val="E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42"/>
    <p:restoredTop sz="94611"/>
  </p:normalViewPr>
  <p:slideViewPr>
    <p:cSldViewPr snapToGrid="0" snapToObjects="1">
      <p:cViewPr>
        <p:scale>
          <a:sx n="100" d="100"/>
          <a:sy n="100" d="100"/>
        </p:scale>
        <p:origin x="562" y="5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47D60-E39B-E041-B6CE-3FDC1A8BB989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1966-643A-ED45-BFF9-B0FE18A32E2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3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73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339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881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034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782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569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48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797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85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9081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323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845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06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332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36221-589F-2846-B89B-D09559D774BF}" type="datetimeFigureOut">
              <a:rPr lang="es-ES_tradnl" smtClean="0"/>
              <a:t>09/06/2026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442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/>
          <p:nvPr/>
        </p:nvCxnSpPr>
        <p:spPr>
          <a:xfrm>
            <a:off x="492141" y="3591697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 flipH="1">
            <a:off x="2186081" y="2158313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1960898" y="2237908"/>
            <a:ext cx="628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Ingeniería de Software I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439206" y="3642221"/>
            <a:ext cx="518956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chemeClr val="bg1"/>
                </a:solidFill>
              </a:rPr>
              <a:t>- Gonzalo Anabalón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- Alex Arancibia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- Pablo Martínez	</a:t>
            </a:r>
          </a:p>
          <a:p>
            <a:r>
              <a:rPr lang="es-ES_tradnl" sz="1600" dirty="0">
                <a:solidFill>
                  <a:schemeClr val="bg1"/>
                </a:solidFill>
              </a:rPr>
              <a:t>- Felipe Oregón</a:t>
            </a:r>
          </a:p>
          <a:p>
            <a:r>
              <a:rPr lang="es-MX" sz="1600" dirty="0">
                <a:solidFill>
                  <a:schemeClr val="bg1"/>
                </a:solidFill>
              </a:rPr>
              <a:t>- Martín Sáez</a:t>
            </a:r>
          </a:p>
          <a:p>
            <a:r>
              <a:rPr lang="es-MX" sz="1600" dirty="0">
                <a:solidFill>
                  <a:schemeClr val="bg1"/>
                </a:solidFill>
              </a:rPr>
              <a:t>- Benjamín Velásquez</a:t>
            </a:r>
          </a:p>
          <a:p>
            <a:r>
              <a:rPr lang="es-MX" sz="1600" dirty="0">
                <a:solidFill>
                  <a:schemeClr val="bg1"/>
                </a:solidFill>
              </a:rPr>
              <a:t>- Felipe </a:t>
            </a:r>
            <a:r>
              <a:rPr lang="es-MX" sz="1600" dirty="0" err="1">
                <a:solidFill>
                  <a:schemeClr val="bg1"/>
                </a:solidFill>
              </a:rPr>
              <a:t>Yelpi</a:t>
            </a:r>
            <a:endParaRPr lang="es-MX" sz="1600" dirty="0">
              <a:solidFill>
                <a:schemeClr val="bg1"/>
              </a:solidFill>
            </a:endParaRPr>
          </a:p>
          <a:p>
            <a:endParaRPr lang="es-ES_tradnl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s-ES_tradnl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s-ES_tradnl" sz="1400" dirty="0">
                <a:solidFill>
                  <a:schemeClr val="bg1"/>
                </a:solidFill>
              </a:rPr>
              <a:t>	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0" y="0"/>
            <a:ext cx="9158013" cy="1435697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14013" y="5477590"/>
            <a:ext cx="9172026" cy="137128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492141" y="5858386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09/06/2026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9" y="2158313"/>
            <a:ext cx="1279083" cy="1189591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A6DD9E-E156-439B-841B-3E5FF3ED29A5}"/>
              </a:ext>
            </a:extLst>
          </p:cNvPr>
          <p:cNvSpPr txBox="1"/>
          <p:nvPr/>
        </p:nvSpPr>
        <p:spPr>
          <a:xfrm>
            <a:off x="2763772" y="2836642"/>
            <a:ext cx="4681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</a:rPr>
              <a:t>Proyecto ATI </a:t>
            </a:r>
            <a:r>
              <a:rPr lang="es-MX" sz="1600" dirty="0" err="1">
                <a:solidFill>
                  <a:schemeClr val="bg1"/>
                </a:solidFill>
              </a:rPr>
              <a:t>Termic</a:t>
            </a:r>
            <a:r>
              <a:rPr lang="es-MX" sz="1600" dirty="0">
                <a:solidFill>
                  <a:schemeClr val="bg1"/>
                </a:solidFill>
              </a:rPr>
              <a:t> SPA Climatización Industrial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</a:rPr>
              <a:t>30% del sistema ERP | Incremento 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B2AC9D-9701-4D42-991F-15FA0932AA81}"/>
              </a:ext>
            </a:extLst>
          </p:cNvPr>
          <p:cNvSpPr txBox="1"/>
          <p:nvPr/>
        </p:nvSpPr>
        <p:spPr>
          <a:xfrm>
            <a:off x="5472023" y="5139036"/>
            <a:ext cx="3685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Profesor: Paulo </a:t>
            </a:r>
            <a:r>
              <a:rPr lang="es-MX" sz="1600" dirty="0" err="1">
                <a:solidFill>
                  <a:schemeClr val="bg1"/>
                </a:solidFill>
              </a:rPr>
              <a:t>Quinsacara</a:t>
            </a:r>
            <a:r>
              <a:rPr lang="es-MX" sz="1600" dirty="0">
                <a:solidFill>
                  <a:schemeClr val="bg1"/>
                </a:solidFill>
              </a:rPr>
              <a:t> Jofré</a:t>
            </a:r>
            <a:endParaRPr lang="es-CL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66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133062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dirty="0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Contenido de la presentación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E7345B7-03FA-47D8-B26D-1CA45E9D96D0}"/>
              </a:ext>
            </a:extLst>
          </p:cNvPr>
          <p:cNvSpPr/>
          <p:nvPr/>
        </p:nvSpPr>
        <p:spPr>
          <a:xfrm>
            <a:off x="393192" y="11978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16D7AED-772F-40EE-BD99-443B1718A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353312"/>
            <a:ext cx="365760" cy="36576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EBD781C7-BF33-4F22-8A72-8B42484DA435}"/>
              </a:ext>
            </a:extLst>
          </p:cNvPr>
          <p:cNvSpPr/>
          <p:nvPr/>
        </p:nvSpPr>
        <p:spPr>
          <a:xfrm>
            <a:off x="960120" y="12893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E19FF28-DDC9-4C0F-B30F-4972ED26E68E}"/>
              </a:ext>
            </a:extLst>
          </p:cNvPr>
          <p:cNvSpPr/>
          <p:nvPr/>
        </p:nvSpPr>
        <p:spPr>
          <a:xfrm>
            <a:off x="1399032" y="12893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Solución e Incremento</a:t>
            </a:r>
            <a:endParaRPr lang="en-US" sz="12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7E919ED-813D-4354-8B4C-A738C5304A48}"/>
              </a:ext>
            </a:extLst>
          </p:cNvPr>
          <p:cNvSpPr/>
          <p:nvPr/>
        </p:nvSpPr>
        <p:spPr>
          <a:xfrm>
            <a:off x="393192" y="21122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94245FFB-7510-4956-9F3D-50107EB44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2267712"/>
            <a:ext cx="365760" cy="36576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EC651355-10ED-4697-8F5D-D8CDFA59AAB5}"/>
              </a:ext>
            </a:extLst>
          </p:cNvPr>
          <p:cNvSpPr/>
          <p:nvPr/>
        </p:nvSpPr>
        <p:spPr>
          <a:xfrm>
            <a:off x="960120" y="22037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986FA63-E062-4203-BE5D-44737E86A0E3}"/>
              </a:ext>
            </a:extLst>
          </p:cNvPr>
          <p:cNvSpPr/>
          <p:nvPr/>
        </p:nvSpPr>
        <p:spPr>
          <a:xfrm>
            <a:off x="1399032" y="22037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Backlog – Pila del Producto</a:t>
            </a:r>
            <a:endParaRPr lang="en-US" sz="12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12A6DAD-59D0-47B8-84F0-3CDC2ACD8807}"/>
              </a:ext>
            </a:extLst>
          </p:cNvPr>
          <p:cNvSpPr/>
          <p:nvPr/>
        </p:nvSpPr>
        <p:spPr>
          <a:xfrm>
            <a:off x="393192" y="30266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4ADBFE56-DECE-4038-81D3-7F8E654D71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182112"/>
            <a:ext cx="365760" cy="36576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228D130D-5E8D-431C-A3CD-23E9058AB9B3}"/>
              </a:ext>
            </a:extLst>
          </p:cNvPr>
          <p:cNvSpPr/>
          <p:nvPr/>
        </p:nvSpPr>
        <p:spPr>
          <a:xfrm>
            <a:off x="960120" y="31181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D4FC0FE-1FE5-4E78-9467-17A931EA5A0A}"/>
              </a:ext>
            </a:extLst>
          </p:cNvPr>
          <p:cNvSpPr/>
          <p:nvPr/>
        </p:nvSpPr>
        <p:spPr>
          <a:xfrm>
            <a:off x="1399032" y="31181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Backlog – Casos de Uso Destacados</a:t>
            </a:r>
            <a:endParaRPr lang="en-US" sz="12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A1172D4-F22A-44C8-A564-E2676AE6699C}"/>
              </a:ext>
            </a:extLst>
          </p:cNvPr>
          <p:cNvSpPr/>
          <p:nvPr/>
        </p:nvSpPr>
        <p:spPr>
          <a:xfrm>
            <a:off x="393192" y="39410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A871B11C-0C49-4980-B9A3-9362D9746D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096512"/>
            <a:ext cx="365760" cy="365760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B16E6572-F1C9-4C55-AFE0-9D5FBD4E0294}"/>
              </a:ext>
            </a:extLst>
          </p:cNvPr>
          <p:cNvSpPr/>
          <p:nvPr/>
        </p:nvSpPr>
        <p:spPr>
          <a:xfrm>
            <a:off x="960120" y="40325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3C7B987A-53B3-44DF-8876-187864A7EB9D}"/>
              </a:ext>
            </a:extLst>
          </p:cNvPr>
          <p:cNvSpPr/>
          <p:nvPr/>
        </p:nvSpPr>
        <p:spPr>
          <a:xfrm>
            <a:off x="1399032" y="40325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4+1 – Arquitectura del Sistema</a:t>
            </a:r>
            <a:endParaRPr lang="en-US" sz="12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BF7D7F2E-2241-4B1C-8A72-65B0AFC1B46C}"/>
              </a:ext>
            </a:extLst>
          </p:cNvPr>
          <p:cNvSpPr/>
          <p:nvPr/>
        </p:nvSpPr>
        <p:spPr>
          <a:xfrm>
            <a:off x="4782312" y="11978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1E132168-2151-4F46-8C1B-35CF628F2C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1353312"/>
            <a:ext cx="365760" cy="365760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6A3207B0-0026-4677-8C33-F106AF04B111}"/>
              </a:ext>
            </a:extLst>
          </p:cNvPr>
          <p:cNvSpPr/>
          <p:nvPr/>
        </p:nvSpPr>
        <p:spPr>
          <a:xfrm>
            <a:off x="5349240" y="12893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8F7EFC78-E8F4-4B5A-8A68-89169E442E9D}"/>
              </a:ext>
            </a:extLst>
          </p:cNvPr>
          <p:cNvSpPr/>
          <p:nvPr/>
        </p:nvSpPr>
        <p:spPr>
          <a:xfrm>
            <a:off x="5788152" y="12893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Scrum – Gestión del Sprint</a:t>
            </a:r>
            <a:endParaRPr lang="en-US" sz="120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0FFADDC6-29D6-4873-BD51-EBA167C7F78F}"/>
              </a:ext>
            </a:extLst>
          </p:cNvPr>
          <p:cNvSpPr/>
          <p:nvPr/>
        </p:nvSpPr>
        <p:spPr>
          <a:xfrm>
            <a:off x="4782312" y="21122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8" name="Image 5" descr="preencoded.png">
            <a:extLst>
              <a:ext uri="{FF2B5EF4-FFF2-40B4-BE49-F238E27FC236}">
                <a16:creationId xmlns:a16="http://schemas.microsoft.com/office/drawing/2014/main" id="{6570BC15-EF30-42C9-AF0E-B3466D01C0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2267712"/>
            <a:ext cx="365760" cy="365760"/>
          </a:xfrm>
          <a:prstGeom prst="rect">
            <a:avLst/>
          </a:prstGeom>
        </p:spPr>
      </p:pic>
      <p:sp>
        <p:nvSpPr>
          <p:cNvPr id="29" name="Text 18">
            <a:extLst>
              <a:ext uri="{FF2B5EF4-FFF2-40B4-BE49-F238E27FC236}">
                <a16:creationId xmlns:a16="http://schemas.microsoft.com/office/drawing/2014/main" id="{FFD56627-2DC9-45CB-A754-F8308EC101D9}"/>
              </a:ext>
            </a:extLst>
          </p:cNvPr>
          <p:cNvSpPr/>
          <p:nvPr/>
        </p:nvSpPr>
        <p:spPr>
          <a:xfrm>
            <a:off x="5349240" y="22037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7090B6A1-1D6A-4AF1-9965-419BFA459CE7}"/>
              </a:ext>
            </a:extLst>
          </p:cNvPr>
          <p:cNvSpPr/>
          <p:nvPr/>
        </p:nvSpPr>
        <p:spPr>
          <a:xfrm>
            <a:off x="5788152" y="22037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 y Retrospectiva</a:t>
            </a:r>
            <a:endParaRPr lang="en-US" sz="12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80C4CDD3-6598-470C-A282-B60E3EF97452}"/>
              </a:ext>
            </a:extLst>
          </p:cNvPr>
          <p:cNvSpPr/>
          <p:nvPr/>
        </p:nvSpPr>
        <p:spPr>
          <a:xfrm>
            <a:off x="4782312" y="30266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2" name="Image 6" descr="preencoded.png">
            <a:extLst>
              <a:ext uri="{FF2B5EF4-FFF2-40B4-BE49-F238E27FC236}">
                <a16:creationId xmlns:a16="http://schemas.microsoft.com/office/drawing/2014/main" id="{5EC3B36F-D04A-4F00-A441-C491690105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9472" y="3182112"/>
            <a:ext cx="365760" cy="365760"/>
          </a:xfrm>
          <a:prstGeom prst="rect">
            <a:avLst/>
          </a:prstGeom>
        </p:spPr>
      </p:pic>
      <p:sp>
        <p:nvSpPr>
          <p:cNvPr id="33" name="Text 21">
            <a:extLst>
              <a:ext uri="{FF2B5EF4-FFF2-40B4-BE49-F238E27FC236}">
                <a16:creationId xmlns:a16="http://schemas.microsoft.com/office/drawing/2014/main" id="{F913B75E-80E6-4089-9B71-E3C55492D4D1}"/>
              </a:ext>
            </a:extLst>
          </p:cNvPr>
          <p:cNvSpPr/>
          <p:nvPr/>
        </p:nvSpPr>
        <p:spPr>
          <a:xfrm>
            <a:off x="5349240" y="31181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DF74EF15-F73C-48A3-83E4-695AD792326A}"/>
              </a:ext>
            </a:extLst>
          </p:cNvPr>
          <p:cNvSpPr/>
          <p:nvPr/>
        </p:nvSpPr>
        <p:spPr>
          <a:xfrm>
            <a:off x="5788152" y="31181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 y Evidencias</a:t>
            </a:r>
            <a:endParaRPr lang="en-US" sz="1200" dirty="0"/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EE1A1064-D6DA-477E-B775-72A278828551}"/>
              </a:ext>
            </a:extLst>
          </p:cNvPr>
          <p:cNvSpPr/>
          <p:nvPr/>
        </p:nvSpPr>
        <p:spPr>
          <a:xfrm>
            <a:off x="4782312" y="39410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6" name="Image 7" descr="preencoded.png">
            <a:extLst>
              <a:ext uri="{FF2B5EF4-FFF2-40B4-BE49-F238E27FC236}">
                <a16:creationId xmlns:a16="http://schemas.microsoft.com/office/drawing/2014/main" id="{7893E1C5-F8CB-45B3-A561-65B1B5242B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9472" y="4096512"/>
            <a:ext cx="365760" cy="365760"/>
          </a:xfrm>
          <a:prstGeom prst="rect">
            <a:avLst/>
          </a:prstGeom>
        </p:spPr>
      </p:pic>
      <p:sp>
        <p:nvSpPr>
          <p:cNvPr id="37" name="Text 24">
            <a:extLst>
              <a:ext uri="{FF2B5EF4-FFF2-40B4-BE49-F238E27FC236}">
                <a16:creationId xmlns:a16="http://schemas.microsoft.com/office/drawing/2014/main" id="{5DFF9F22-8990-4896-976F-6EF89766E3E8}"/>
              </a:ext>
            </a:extLst>
          </p:cNvPr>
          <p:cNvSpPr/>
          <p:nvPr/>
        </p:nvSpPr>
        <p:spPr>
          <a:xfrm>
            <a:off x="5349240" y="40325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61CB1071-0FC4-4485-944A-0076EB146E42}"/>
              </a:ext>
            </a:extLst>
          </p:cNvPr>
          <p:cNvSpPr/>
          <p:nvPr/>
        </p:nvSpPr>
        <p:spPr>
          <a:xfrm>
            <a:off x="5788152" y="40325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del Sistema</a:t>
            </a:r>
            <a:endParaRPr lang="en-US" sz="1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854795-A5E4-48B8-9E77-9F5F743D7F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1266" y="4946905"/>
            <a:ext cx="4641468" cy="163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2" y="137851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itchFamily="2" charset="0"/>
                <a:ea typeface="Gungsuh" charset="-127"/>
                <a:cs typeface="Gungsuh" charset="-127"/>
              </a:rPr>
              <a:t>Propuesta de solución e incremento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6B7822-C05F-4E11-89D6-D306AAC07BF6}"/>
              </a:ext>
            </a:extLst>
          </p:cNvPr>
          <p:cNvSpPr txBox="1"/>
          <p:nvPr/>
        </p:nvSpPr>
        <p:spPr>
          <a:xfrm>
            <a:off x="-28026" y="1376393"/>
            <a:ext cx="9172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Sistema ERP web para ATI </a:t>
            </a: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Termic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SpA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Centraliza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gestión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obras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compras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, RRHH, </a:t>
            </a: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. Stack: React.js + Node.js + Express + MySQL + JWT.</a:t>
            </a:r>
            <a:endParaRPr lang="en-US" sz="1600" b="1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457A592-6C25-460D-9919-B5F23F69947C}"/>
              </a:ext>
            </a:extLst>
          </p:cNvPr>
          <p:cNvGrpSpPr/>
          <p:nvPr/>
        </p:nvGrpSpPr>
        <p:grpSpPr>
          <a:xfrm>
            <a:off x="108722" y="2468880"/>
            <a:ext cx="8926556" cy="2834640"/>
            <a:chOff x="274320" y="2468880"/>
            <a:chExt cx="8595360" cy="283464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2C1FB30B-A7EC-4D3B-86ED-DE388C14FAE7}"/>
                </a:ext>
              </a:extLst>
            </p:cNvPr>
            <p:cNvSpPr/>
            <p:nvPr/>
          </p:nvSpPr>
          <p:spPr>
            <a:xfrm>
              <a:off x="274320" y="2468880"/>
              <a:ext cx="2011680" cy="2834640"/>
            </a:xfrm>
            <a:prstGeom prst="roundRect">
              <a:avLst>
                <a:gd name="adj" fmla="val 5455"/>
              </a:avLst>
            </a:prstGeom>
            <a:solidFill>
              <a:srgbClr val="FFB300"/>
            </a:solidFill>
            <a:ln w="12700">
              <a:solidFill>
                <a:srgbClr val="FFB300"/>
              </a:solidFill>
              <a:prstDash val="solid"/>
            </a:ln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78935068-C5CC-4EA8-B64A-EC764AD1BF7E}"/>
                </a:ext>
              </a:extLst>
            </p:cNvPr>
            <p:cNvSpPr/>
            <p:nvPr/>
          </p:nvSpPr>
          <p:spPr>
            <a:xfrm>
              <a:off x="274320" y="26289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D1B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 1</a:t>
              </a:r>
              <a:endParaRPr lang="en-US" sz="1400" dirty="0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2C5C96C3-8C22-45B3-A731-2A1EF36133C5}"/>
                </a:ext>
              </a:extLst>
            </p:cNvPr>
            <p:cNvSpPr/>
            <p:nvPr/>
          </p:nvSpPr>
          <p:spPr>
            <a:xfrm>
              <a:off x="274320" y="304038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0D1B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30%</a:t>
              </a:r>
              <a:endParaRPr lang="en-US" sz="3000" dirty="0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436A7467-C8FF-4208-B406-2227286E4E2D}"/>
                </a:ext>
              </a:extLst>
            </p:cNvPr>
            <p:cNvSpPr/>
            <p:nvPr/>
          </p:nvSpPr>
          <p:spPr>
            <a:xfrm>
              <a:off x="274321" y="3680460"/>
              <a:ext cx="201168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D1B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Seguridad, Obras,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0D1B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Compras, Finanzas,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0D1B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Documentación</a:t>
              </a:r>
              <a:endParaRPr lang="en-US" sz="1000" dirty="0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FB55A861-4176-41EE-B4A9-7ECD7464F093}"/>
                </a:ext>
              </a:extLst>
            </p:cNvPr>
            <p:cNvSpPr/>
            <p:nvPr/>
          </p:nvSpPr>
          <p:spPr>
            <a:xfrm>
              <a:off x="274320" y="477774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0D1B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Junio 2026</a:t>
              </a:r>
              <a:endParaRPr lang="en-US" sz="1000" dirty="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683E5628-0E17-43C1-8FAD-1821ED035EE3}"/>
                </a:ext>
              </a:extLst>
            </p:cNvPr>
            <p:cNvSpPr/>
            <p:nvPr/>
          </p:nvSpPr>
          <p:spPr>
            <a:xfrm>
              <a:off x="2468880" y="2468880"/>
              <a:ext cx="2011680" cy="2834640"/>
            </a:xfrm>
            <a:prstGeom prst="roundRect">
              <a:avLst>
                <a:gd name="adj" fmla="val 5455"/>
              </a:avLst>
            </a:prstGeom>
            <a:solidFill>
              <a:srgbClr val="1A2744"/>
            </a:solidFill>
            <a:ln w="12700">
              <a:solidFill>
                <a:srgbClr val="0288D1"/>
              </a:solidFill>
              <a:prstDash val="solid"/>
            </a:ln>
          </p:spPr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5E933C83-CDEC-47EA-9A55-9B7627177D20}"/>
                </a:ext>
              </a:extLst>
            </p:cNvPr>
            <p:cNvSpPr/>
            <p:nvPr/>
          </p:nvSpPr>
          <p:spPr>
            <a:xfrm>
              <a:off x="2468880" y="256032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 2</a:t>
              </a:r>
              <a:endParaRPr lang="en-US" sz="1400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D7B3815E-2C90-4631-B185-98CCF172E059}"/>
                </a:ext>
              </a:extLst>
            </p:cNvPr>
            <p:cNvSpPr/>
            <p:nvPr/>
          </p:nvSpPr>
          <p:spPr>
            <a:xfrm>
              <a:off x="2468880" y="297180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70%</a:t>
              </a:r>
              <a:endParaRPr lang="en-US" sz="3000" dirty="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ADFA1E1A-AAB9-4993-AF2A-F6E1E7BEFA1B}"/>
                </a:ext>
              </a:extLst>
            </p:cNvPr>
            <p:cNvSpPr/>
            <p:nvPr/>
          </p:nvSpPr>
          <p:spPr>
            <a:xfrm>
              <a:off x="2560320" y="3611880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RRHH, Catálogo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SKU, Solicitudes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Materiales</a:t>
              </a:r>
              <a:endParaRPr lang="en-US" sz="1000" dirty="0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46F49EA6-3418-48F5-995C-8D45EB2DCDEF}"/>
                </a:ext>
              </a:extLst>
            </p:cNvPr>
            <p:cNvSpPr/>
            <p:nvPr/>
          </p:nvSpPr>
          <p:spPr>
            <a:xfrm>
              <a:off x="2468880" y="470916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Agosto 2026</a:t>
              </a:r>
              <a:endParaRPr lang="en-US" sz="1000" dirty="0"/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3B526AAE-CE34-4C12-BC53-CAF8C535055D}"/>
                </a:ext>
              </a:extLst>
            </p:cNvPr>
            <p:cNvSpPr/>
            <p:nvPr/>
          </p:nvSpPr>
          <p:spPr>
            <a:xfrm>
              <a:off x="4663440" y="2468880"/>
              <a:ext cx="2011680" cy="2834640"/>
            </a:xfrm>
            <a:prstGeom prst="roundRect">
              <a:avLst>
                <a:gd name="adj" fmla="val 5455"/>
              </a:avLst>
            </a:prstGeom>
            <a:solidFill>
              <a:srgbClr val="1A2744"/>
            </a:solidFill>
            <a:ln w="12700">
              <a:solidFill>
                <a:srgbClr val="0288D1"/>
              </a:solidFill>
              <a:prstDash val="solid"/>
            </a:ln>
          </p:spPr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126BC41B-7CC7-4134-A2DE-7F507DE48D28}"/>
                </a:ext>
              </a:extLst>
            </p:cNvPr>
            <p:cNvSpPr/>
            <p:nvPr/>
          </p:nvSpPr>
          <p:spPr>
            <a:xfrm>
              <a:off x="4663440" y="256032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 3</a:t>
              </a:r>
              <a:endParaRPr lang="en-US" sz="1400" dirty="0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29B8DA91-81F5-4755-95D8-D0402EB5344F}"/>
                </a:ext>
              </a:extLst>
            </p:cNvPr>
            <p:cNvSpPr/>
            <p:nvPr/>
          </p:nvSpPr>
          <p:spPr>
            <a:xfrm>
              <a:off x="4663440" y="297180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95%</a:t>
              </a:r>
              <a:endParaRPr lang="en-US" sz="3000" dirty="0"/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B6C1FC0E-0A16-4470-99A5-05D2BA0F120E}"/>
                </a:ext>
              </a:extLst>
            </p:cNvPr>
            <p:cNvSpPr/>
            <p:nvPr/>
          </p:nvSpPr>
          <p:spPr>
            <a:xfrm>
              <a:off x="4754880" y="3611880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Finanzas Gerencial,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Mano de Obra,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Portafolio Web</a:t>
              </a:r>
              <a:endParaRPr lang="en-US" sz="1000" dirty="0"/>
            </a:p>
          </p:txBody>
        </p:sp>
        <p:sp>
          <p:nvSpPr>
            <p:cNvPr id="23" name="Text 18">
              <a:extLst>
                <a:ext uri="{FF2B5EF4-FFF2-40B4-BE49-F238E27FC236}">
                  <a16:creationId xmlns:a16="http://schemas.microsoft.com/office/drawing/2014/main" id="{EF4DA4D4-2BCD-429C-AC92-FCCC046E2787}"/>
                </a:ext>
              </a:extLst>
            </p:cNvPr>
            <p:cNvSpPr/>
            <p:nvPr/>
          </p:nvSpPr>
          <p:spPr>
            <a:xfrm>
              <a:off x="4663440" y="470916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Oct. 2026</a:t>
              </a:r>
              <a:endParaRPr lang="en-US" sz="1000" dirty="0"/>
            </a:p>
          </p:txBody>
        </p:sp>
        <p:sp>
          <p:nvSpPr>
            <p:cNvPr id="24" name="Shape 19">
              <a:extLst>
                <a:ext uri="{FF2B5EF4-FFF2-40B4-BE49-F238E27FC236}">
                  <a16:creationId xmlns:a16="http://schemas.microsoft.com/office/drawing/2014/main" id="{7BECBAAC-C4EB-45F1-BDB1-F1AE3A87404F}"/>
                </a:ext>
              </a:extLst>
            </p:cNvPr>
            <p:cNvSpPr/>
            <p:nvPr/>
          </p:nvSpPr>
          <p:spPr>
            <a:xfrm>
              <a:off x="6858000" y="2468880"/>
              <a:ext cx="2011680" cy="2834640"/>
            </a:xfrm>
            <a:prstGeom prst="roundRect">
              <a:avLst>
                <a:gd name="adj" fmla="val 5455"/>
              </a:avLst>
            </a:prstGeom>
            <a:solidFill>
              <a:srgbClr val="1A2744"/>
            </a:solidFill>
            <a:ln w="12700">
              <a:solidFill>
                <a:srgbClr val="0288D1"/>
              </a:solidFill>
              <a:prstDash val="solid"/>
            </a:ln>
          </p:spPr>
        </p:sp>
        <p:sp>
          <p:nvSpPr>
            <p:cNvPr id="25" name="Text 20">
              <a:extLst>
                <a:ext uri="{FF2B5EF4-FFF2-40B4-BE49-F238E27FC236}">
                  <a16:creationId xmlns:a16="http://schemas.microsoft.com/office/drawing/2014/main" id="{61565311-FCA0-4922-BE08-BE3B17F393B6}"/>
                </a:ext>
              </a:extLst>
            </p:cNvPr>
            <p:cNvSpPr/>
            <p:nvPr/>
          </p:nvSpPr>
          <p:spPr>
            <a:xfrm>
              <a:off x="6858000" y="256032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 4</a:t>
              </a:r>
              <a:endParaRPr lang="en-US" sz="1400" dirty="0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0E563DEC-169F-40D7-A6EF-5734851BA234}"/>
                </a:ext>
              </a:extLst>
            </p:cNvPr>
            <p:cNvSpPr/>
            <p:nvPr/>
          </p:nvSpPr>
          <p:spPr>
            <a:xfrm>
              <a:off x="6858000" y="297180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100%</a:t>
              </a:r>
              <a:endParaRPr lang="en-US" sz="3000" dirty="0"/>
            </a:p>
          </p:txBody>
        </p:sp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021D7C9B-A755-4F41-8A79-9D6AA3001BB3}"/>
                </a:ext>
              </a:extLst>
            </p:cNvPr>
            <p:cNvSpPr/>
            <p:nvPr/>
          </p:nvSpPr>
          <p:spPr>
            <a:xfrm>
              <a:off x="6949440" y="3611880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Cierre Técnico,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Certificados,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Producción</a:t>
              </a:r>
              <a:endParaRPr lang="en-US" sz="1000" dirty="0"/>
            </a:p>
          </p:txBody>
        </p:sp>
        <p:sp>
          <p:nvSpPr>
            <p:cNvPr id="28" name="Text 23">
              <a:extLst>
                <a:ext uri="{FF2B5EF4-FFF2-40B4-BE49-F238E27FC236}">
                  <a16:creationId xmlns:a16="http://schemas.microsoft.com/office/drawing/2014/main" id="{D98D557E-8D50-4F28-ACBE-6AE83CD0A495}"/>
                </a:ext>
              </a:extLst>
            </p:cNvPr>
            <p:cNvSpPr/>
            <p:nvPr/>
          </p:nvSpPr>
          <p:spPr>
            <a:xfrm>
              <a:off x="6858000" y="470916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Nov. 2026</a:t>
              </a:r>
              <a:endParaRPr lang="en-US" sz="1000" dirty="0"/>
            </a:p>
          </p:txBody>
        </p:sp>
        <p:sp>
          <p:nvSpPr>
            <p:cNvPr id="49" name="Text 8">
              <a:extLst>
                <a:ext uri="{FF2B5EF4-FFF2-40B4-BE49-F238E27FC236}">
                  <a16:creationId xmlns:a16="http://schemas.microsoft.com/office/drawing/2014/main" id="{EFFE09C6-B671-47C7-B215-E8490A0998AC}"/>
                </a:ext>
              </a:extLst>
            </p:cNvPr>
            <p:cNvSpPr/>
            <p:nvPr/>
          </p:nvSpPr>
          <p:spPr>
            <a:xfrm>
              <a:off x="274320" y="45034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D1B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◄ ACTUAL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1388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dirty="0" err="1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Product</a:t>
            </a:r>
            <a:r>
              <a:rPr lang="es-ES_tradnl" sz="2400" b="1" dirty="0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 backlog – pila de producto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532FDEFE-5AF8-4B4E-8D2F-65E2AC296541}"/>
              </a:ext>
            </a:extLst>
          </p:cNvPr>
          <p:cNvSpPr/>
          <p:nvPr/>
        </p:nvSpPr>
        <p:spPr>
          <a:xfrm>
            <a:off x="386632" y="1478324"/>
            <a:ext cx="1920240" cy="1386723"/>
          </a:xfrm>
          <a:prstGeom prst="roundRect">
            <a:avLst>
              <a:gd name="adj" fmla="val 7692"/>
            </a:avLst>
          </a:prstGeom>
          <a:solidFill>
            <a:srgbClr val="1565C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pic>
        <p:nvPicPr>
          <p:cNvPr id="65" name="Image 0" descr="preencoded.png">
            <a:extLst>
              <a:ext uri="{FF2B5EF4-FFF2-40B4-BE49-F238E27FC236}">
                <a16:creationId xmlns:a16="http://schemas.microsoft.com/office/drawing/2014/main" id="{16883F52-DD5E-4A3B-A3B7-52DB215FB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92" y="1549157"/>
            <a:ext cx="385663" cy="385663"/>
          </a:xfrm>
          <a:prstGeom prst="rect">
            <a:avLst/>
          </a:prstGeom>
        </p:spPr>
      </p:pic>
      <p:sp>
        <p:nvSpPr>
          <p:cNvPr id="66" name="Text 3">
            <a:extLst>
              <a:ext uri="{FF2B5EF4-FFF2-40B4-BE49-F238E27FC236}">
                <a16:creationId xmlns:a16="http://schemas.microsoft.com/office/drawing/2014/main" id="{867219EC-417A-472C-8473-C3F3D7F9013A}"/>
              </a:ext>
            </a:extLst>
          </p:cNvPr>
          <p:cNvSpPr/>
          <p:nvPr/>
        </p:nvSpPr>
        <p:spPr>
          <a:xfrm>
            <a:off x="402764" y="1681454"/>
            <a:ext cx="1884266" cy="64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0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72901098-8614-41DF-A0C9-DA08352C63A8}"/>
              </a:ext>
            </a:extLst>
          </p:cNvPr>
          <p:cNvSpPr/>
          <p:nvPr/>
        </p:nvSpPr>
        <p:spPr>
          <a:xfrm>
            <a:off x="430310" y="2165192"/>
            <a:ext cx="185672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68" name="Shape 5">
            <a:extLst>
              <a:ext uri="{FF2B5EF4-FFF2-40B4-BE49-F238E27FC236}">
                <a16:creationId xmlns:a16="http://schemas.microsoft.com/office/drawing/2014/main" id="{4CCCEE65-074A-42A3-9681-C3F8602B287A}"/>
              </a:ext>
            </a:extLst>
          </p:cNvPr>
          <p:cNvSpPr/>
          <p:nvPr/>
        </p:nvSpPr>
        <p:spPr>
          <a:xfrm>
            <a:off x="2556290" y="1506723"/>
            <a:ext cx="1920240" cy="1386723"/>
          </a:xfrm>
          <a:prstGeom prst="roundRect">
            <a:avLst>
              <a:gd name="adj" fmla="val 7692"/>
            </a:avLst>
          </a:prstGeom>
          <a:solidFill>
            <a:srgbClr val="1565C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9" name="Image 1" descr="preencoded.png">
            <a:extLst>
              <a:ext uri="{FF2B5EF4-FFF2-40B4-BE49-F238E27FC236}">
                <a16:creationId xmlns:a16="http://schemas.microsoft.com/office/drawing/2014/main" id="{B3B0BB41-AA38-422A-8CF9-7744C60E3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4888" y="1555996"/>
            <a:ext cx="366578" cy="366578"/>
          </a:xfrm>
          <a:prstGeom prst="rect">
            <a:avLst/>
          </a:prstGeom>
        </p:spPr>
      </p:pic>
      <p:sp>
        <p:nvSpPr>
          <p:cNvPr id="70" name="Text 6">
            <a:extLst>
              <a:ext uri="{FF2B5EF4-FFF2-40B4-BE49-F238E27FC236}">
                <a16:creationId xmlns:a16="http://schemas.microsoft.com/office/drawing/2014/main" id="{76179DC0-B93D-498F-B65D-3101D268EBD8}"/>
              </a:ext>
            </a:extLst>
          </p:cNvPr>
          <p:cNvSpPr/>
          <p:nvPr/>
        </p:nvSpPr>
        <p:spPr>
          <a:xfrm>
            <a:off x="2556290" y="1693823"/>
            <a:ext cx="1920240" cy="64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30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93BA32E6-747D-4917-BB38-C84C4064D2D5}"/>
              </a:ext>
            </a:extLst>
          </p:cNvPr>
          <p:cNvSpPr/>
          <p:nvPr/>
        </p:nvSpPr>
        <p:spPr>
          <a:xfrm>
            <a:off x="2528744" y="2171685"/>
            <a:ext cx="192024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 Estimadas</a:t>
            </a:r>
            <a:endParaRPr lang="en-US" sz="1100" dirty="0"/>
          </a:p>
        </p:txBody>
      </p:sp>
      <p:sp>
        <p:nvSpPr>
          <p:cNvPr id="72" name="Shape 8">
            <a:extLst>
              <a:ext uri="{FF2B5EF4-FFF2-40B4-BE49-F238E27FC236}">
                <a16:creationId xmlns:a16="http://schemas.microsoft.com/office/drawing/2014/main" id="{9FBD329D-79EC-4329-958E-D5451355F67B}"/>
              </a:ext>
            </a:extLst>
          </p:cNvPr>
          <p:cNvSpPr/>
          <p:nvPr/>
        </p:nvSpPr>
        <p:spPr>
          <a:xfrm>
            <a:off x="4725948" y="1518890"/>
            <a:ext cx="1920240" cy="1386723"/>
          </a:xfrm>
          <a:prstGeom prst="roundRect">
            <a:avLst>
              <a:gd name="adj" fmla="val 7692"/>
            </a:avLst>
          </a:prstGeom>
          <a:solidFill>
            <a:srgbClr val="1565C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3" name="Image 2" descr="preencoded.png">
            <a:extLst>
              <a:ext uri="{FF2B5EF4-FFF2-40B4-BE49-F238E27FC236}">
                <a16:creationId xmlns:a16="http://schemas.microsoft.com/office/drawing/2014/main" id="{0121778D-AE26-461C-88E9-9063185A9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9560" y="1609105"/>
            <a:ext cx="378212" cy="378212"/>
          </a:xfrm>
          <a:prstGeom prst="rect">
            <a:avLst/>
          </a:prstGeom>
        </p:spPr>
      </p:pic>
      <p:sp>
        <p:nvSpPr>
          <p:cNvPr id="74" name="Text 9">
            <a:extLst>
              <a:ext uri="{FF2B5EF4-FFF2-40B4-BE49-F238E27FC236}">
                <a16:creationId xmlns:a16="http://schemas.microsoft.com/office/drawing/2014/main" id="{A227FBB8-A4C0-478C-832A-E5578F6DCB8F}"/>
              </a:ext>
            </a:extLst>
          </p:cNvPr>
          <p:cNvSpPr/>
          <p:nvPr/>
        </p:nvSpPr>
        <p:spPr>
          <a:xfrm>
            <a:off x="4743573" y="1662890"/>
            <a:ext cx="1920240" cy="64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000" dirty="0"/>
          </a:p>
        </p:txBody>
      </p:sp>
      <p:sp>
        <p:nvSpPr>
          <p:cNvPr id="75" name="Text 10">
            <a:extLst>
              <a:ext uri="{FF2B5EF4-FFF2-40B4-BE49-F238E27FC236}">
                <a16:creationId xmlns:a16="http://schemas.microsoft.com/office/drawing/2014/main" id="{CC5F457F-399E-41B5-8A88-E802D794F9BD}"/>
              </a:ext>
            </a:extLst>
          </p:cNvPr>
          <p:cNvSpPr/>
          <p:nvPr/>
        </p:nvSpPr>
        <p:spPr>
          <a:xfrm>
            <a:off x="4753494" y="2168518"/>
            <a:ext cx="190039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Total</a:t>
            </a:r>
            <a:endParaRPr lang="en-US" sz="1100" dirty="0"/>
          </a:p>
        </p:txBody>
      </p:sp>
      <p:sp>
        <p:nvSpPr>
          <p:cNvPr id="76" name="Shape 11">
            <a:extLst>
              <a:ext uri="{FF2B5EF4-FFF2-40B4-BE49-F238E27FC236}">
                <a16:creationId xmlns:a16="http://schemas.microsoft.com/office/drawing/2014/main" id="{5137D127-CD14-4483-8DCF-5F4496E52B08}"/>
              </a:ext>
            </a:extLst>
          </p:cNvPr>
          <p:cNvSpPr/>
          <p:nvPr/>
        </p:nvSpPr>
        <p:spPr>
          <a:xfrm>
            <a:off x="6915448" y="1518890"/>
            <a:ext cx="1920240" cy="1386723"/>
          </a:xfrm>
          <a:prstGeom prst="roundRect">
            <a:avLst>
              <a:gd name="adj" fmla="val 7692"/>
            </a:avLst>
          </a:prstGeom>
          <a:solidFill>
            <a:srgbClr val="1565C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pic>
        <p:nvPicPr>
          <p:cNvPr id="77" name="Image 3" descr="preencoded.png">
            <a:extLst>
              <a:ext uri="{FF2B5EF4-FFF2-40B4-BE49-F238E27FC236}">
                <a16:creationId xmlns:a16="http://schemas.microsoft.com/office/drawing/2014/main" id="{0447537D-37DE-4679-896D-119C9EB61F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6396" y="1573563"/>
            <a:ext cx="385663" cy="385663"/>
          </a:xfrm>
          <a:prstGeom prst="rect">
            <a:avLst/>
          </a:prstGeom>
        </p:spPr>
      </p:pic>
      <p:sp>
        <p:nvSpPr>
          <p:cNvPr id="78" name="Text 12">
            <a:extLst>
              <a:ext uri="{FF2B5EF4-FFF2-40B4-BE49-F238E27FC236}">
                <a16:creationId xmlns:a16="http://schemas.microsoft.com/office/drawing/2014/main" id="{6FD1265D-32AA-42BA-8286-B3DDF8DE67B8}"/>
              </a:ext>
            </a:extLst>
          </p:cNvPr>
          <p:cNvSpPr/>
          <p:nvPr/>
        </p:nvSpPr>
        <p:spPr>
          <a:xfrm>
            <a:off x="6891955" y="1645129"/>
            <a:ext cx="1940082" cy="64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78C2DE77-3AA0-4976-A91A-EB1FBBC8CBE8}"/>
              </a:ext>
            </a:extLst>
          </p:cNvPr>
          <p:cNvSpPr/>
          <p:nvPr/>
        </p:nvSpPr>
        <p:spPr>
          <a:xfrm>
            <a:off x="6905728" y="2138878"/>
            <a:ext cx="191253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</a:t>
            </a:r>
            <a:endParaRPr lang="en-US" sz="1100" dirty="0"/>
          </a:p>
        </p:txBody>
      </p:sp>
      <p:sp>
        <p:nvSpPr>
          <p:cNvPr id="80" name="Shape 14">
            <a:extLst>
              <a:ext uri="{FF2B5EF4-FFF2-40B4-BE49-F238E27FC236}">
                <a16:creationId xmlns:a16="http://schemas.microsoft.com/office/drawing/2014/main" id="{72986FC2-C2FC-44E8-9EE4-9492AF4066F5}"/>
              </a:ext>
            </a:extLst>
          </p:cNvPr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E280F8FE-C68B-4A80-AE6B-FBCAE44002C9}"/>
              </a:ext>
            </a:extLst>
          </p:cNvPr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</a:t>
            </a:r>
            <a:endParaRPr lang="en-US" sz="1100" dirty="0"/>
          </a:p>
        </p:txBody>
      </p:sp>
      <p:sp>
        <p:nvSpPr>
          <p:cNvPr id="82" name="Shape 16">
            <a:extLst>
              <a:ext uri="{FF2B5EF4-FFF2-40B4-BE49-F238E27FC236}">
                <a16:creationId xmlns:a16="http://schemas.microsoft.com/office/drawing/2014/main" id="{D2511455-C29F-44A7-AF8E-BB90B589CAFF}"/>
              </a:ext>
            </a:extLst>
          </p:cNvPr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" name="Text 17">
            <a:extLst>
              <a:ext uri="{FF2B5EF4-FFF2-40B4-BE49-F238E27FC236}">
                <a16:creationId xmlns:a16="http://schemas.microsoft.com/office/drawing/2014/main" id="{19144302-1D1C-4C89-ADA4-FD67AB760DF2}"/>
              </a:ext>
            </a:extLst>
          </p:cNvPr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84" name="Shape 18">
            <a:extLst>
              <a:ext uri="{FF2B5EF4-FFF2-40B4-BE49-F238E27FC236}">
                <a16:creationId xmlns:a16="http://schemas.microsoft.com/office/drawing/2014/main" id="{0CEF2EC9-5B2C-4E88-84D2-5ED559B50BFD}"/>
              </a:ext>
            </a:extLst>
          </p:cNvPr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F1B99CD6-1FA1-43EA-A677-E3385C1761C5}"/>
              </a:ext>
            </a:extLst>
          </p:cNvPr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</a:t>
            </a:r>
            <a:endParaRPr lang="en-US" sz="1100" dirty="0"/>
          </a:p>
        </p:txBody>
      </p:sp>
      <p:sp>
        <p:nvSpPr>
          <p:cNvPr id="86" name="Shape 20">
            <a:extLst>
              <a:ext uri="{FF2B5EF4-FFF2-40B4-BE49-F238E27FC236}">
                <a16:creationId xmlns:a16="http://schemas.microsoft.com/office/drawing/2014/main" id="{F16854F8-9CD5-4FA0-8BA6-72FD60D1530B}"/>
              </a:ext>
            </a:extLst>
          </p:cNvPr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7" name="Text 21">
            <a:extLst>
              <a:ext uri="{FF2B5EF4-FFF2-40B4-BE49-F238E27FC236}">
                <a16:creationId xmlns:a16="http://schemas.microsoft.com/office/drawing/2014/main" id="{491347C2-DB24-4506-B910-1C0256A7E524}"/>
              </a:ext>
            </a:extLst>
          </p:cNvPr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 Est.</a:t>
            </a:r>
            <a:endParaRPr lang="en-US" sz="1100" dirty="0"/>
          </a:p>
        </p:txBody>
      </p:sp>
      <p:sp>
        <p:nvSpPr>
          <p:cNvPr id="88" name="Shape 22">
            <a:extLst>
              <a:ext uri="{FF2B5EF4-FFF2-40B4-BE49-F238E27FC236}">
                <a16:creationId xmlns:a16="http://schemas.microsoft.com/office/drawing/2014/main" id="{89FB636B-B072-46A0-B1ED-119906302805}"/>
              </a:ext>
            </a:extLst>
          </p:cNvPr>
          <p:cNvSpPr/>
          <p:nvPr/>
        </p:nvSpPr>
        <p:spPr>
          <a:xfrm>
            <a:off x="508440" y="3792993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D0DE677C-F362-43DC-A954-714DC171ACF5}"/>
              </a:ext>
            </a:extLst>
          </p:cNvPr>
          <p:cNvSpPr/>
          <p:nvPr/>
        </p:nvSpPr>
        <p:spPr>
          <a:xfrm>
            <a:off x="3297360" y="3792993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90" name="Shape 24">
            <a:extLst>
              <a:ext uri="{FF2B5EF4-FFF2-40B4-BE49-F238E27FC236}">
                <a16:creationId xmlns:a16="http://schemas.microsoft.com/office/drawing/2014/main" id="{ABFB5DF8-EA41-45EB-8863-A5C7BFB99C11}"/>
              </a:ext>
            </a:extLst>
          </p:cNvPr>
          <p:cNvSpPr/>
          <p:nvPr/>
        </p:nvSpPr>
        <p:spPr>
          <a:xfrm>
            <a:off x="6269160" y="3792993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91" name="Shape 25">
            <a:extLst>
              <a:ext uri="{FF2B5EF4-FFF2-40B4-BE49-F238E27FC236}">
                <a16:creationId xmlns:a16="http://schemas.microsoft.com/office/drawing/2014/main" id="{B5939ABB-EF6A-43A2-9038-D088D71F753D}"/>
              </a:ext>
            </a:extLst>
          </p:cNvPr>
          <p:cNvSpPr/>
          <p:nvPr/>
        </p:nvSpPr>
        <p:spPr>
          <a:xfrm>
            <a:off x="7503600" y="3792993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92" name="Shape 26">
            <a:extLst>
              <a:ext uri="{FF2B5EF4-FFF2-40B4-BE49-F238E27FC236}">
                <a16:creationId xmlns:a16="http://schemas.microsoft.com/office/drawing/2014/main" id="{85151AEC-4FB0-4DBE-AADD-315CFF5A95B0}"/>
              </a:ext>
            </a:extLst>
          </p:cNvPr>
          <p:cNvSpPr/>
          <p:nvPr/>
        </p:nvSpPr>
        <p:spPr>
          <a:xfrm>
            <a:off x="508440" y="3792993"/>
            <a:ext cx="7315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3" name="Text 27">
            <a:extLst>
              <a:ext uri="{FF2B5EF4-FFF2-40B4-BE49-F238E27FC236}">
                <a16:creationId xmlns:a16="http://schemas.microsoft.com/office/drawing/2014/main" id="{339B5523-78D2-43DB-87AE-2A5882B10304}"/>
              </a:ext>
            </a:extLst>
          </p:cNvPr>
          <p:cNvSpPr/>
          <p:nvPr/>
        </p:nvSpPr>
        <p:spPr>
          <a:xfrm>
            <a:off x="645600" y="3792993"/>
            <a:ext cx="2606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Obra</a:t>
            </a:r>
            <a:endParaRPr lang="en-US" sz="1050" dirty="0"/>
          </a:p>
        </p:txBody>
      </p:sp>
      <p:sp>
        <p:nvSpPr>
          <p:cNvPr id="94" name="Text 28">
            <a:extLst>
              <a:ext uri="{FF2B5EF4-FFF2-40B4-BE49-F238E27FC236}">
                <a16:creationId xmlns:a16="http://schemas.microsoft.com/office/drawing/2014/main" id="{53EE4274-A9E0-4036-B11E-16E407187AA3}"/>
              </a:ext>
            </a:extLst>
          </p:cNvPr>
          <p:cNvSpPr/>
          <p:nvPr/>
        </p:nvSpPr>
        <p:spPr>
          <a:xfrm>
            <a:off x="3297360" y="379299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14, 15, 16, 17</a:t>
            </a:r>
            <a:endParaRPr lang="en-US" sz="1050" dirty="0"/>
          </a:p>
        </p:txBody>
      </p:sp>
      <p:sp>
        <p:nvSpPr>
          <p:cNvPr id="95" name="Text 29">
            <a:extLst>
              <a:ext uri="{FF2B5EF4-FFF2-40B4-BE49-F238E27FC236}">
                <a16:creationId xmlns:a16="http://schemas.microsoft.com/office/drawing/2014/main" id="{5FEF8EBE-530F-436A-9A9B-82D80D7C8826}"/>
              </a:ext>
            </a:extLst>
          </p:cNvPr>
          <p:cNvSpPr/>
          <p:nvPr/>
        </p:nvSpPr>
        <p:spPr>
          <a:xfrm>
            <a:off x="6269160" y="3792993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50" dirty="0"/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6F790635-520D-43CF-A7DB-C046CB69C1D5}"/>
              </a:ext>
            </a:extLst>
          </p:cNvPr>
          <p:cNvSpPr/>
          <p:nvPr/>
        </p:nvSpPr>
        <p:spPr>
          <a:xfrm>
            <a:off x="7503600" y="3792993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HH</a:t>
            </a:r>
            <a:endParaRPr lang="en-US" sz="1050" dirty="0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19DC54BA-4934-4BF1-A7D8-D8D471072996}"/>
              </a:ext>
            </a:extLst>
          </p:cNvPr>
          <p:cNvSpPr/>
          <p:nvPr/>
        </p:nvSpPr>
        <p:spPr>
          <a:xfrm>
            <a:off x="508440" y="4295913"/>
            <a:ext cx="274320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98" name="Shape 32">
            <a:extLst>
              <a:ext uri="{FF2B5EF4-FFF2-40B4-BE49-F238E27FC236}">
                <a16:creationId xmlns:a16="http://schemas.microsoft.com/office/drawing/2014/main" id="{BEF7CBF3-5B7F-4745-AA16-4121E77E4FB4}"/>
              </a:ext>
            </a:extLst>
          </p:cNvPr>
          <p:cNvSpPr/>
          <p:nvPr/>
        </p:nvSpPr>
        <p:spPr>
          <a:xfrm>
            <a:off x="3297360" y="4295913"/>
            <a:ext cx="292608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99" name="Shape 33">
            <a:extLst>
              <a:ext uri="{FF2B5EF4-FFF2-40B4-BE49-F238E27FC236}">
                <a16:creationId xmlns:a16="http://schemas.microsoft.com/office/drawing/2014/main" id="{F743488C-0F1A-470C-B032-970FFDF18C87}"/>
              </a:ext>
            </a:extLst>
          </p:cNvPr>
          <p:cNvSpPr/>
          <p:nvPr/>
        </p:nvSpPr>
        <p:spPr>
          <a:xfrm>
            <a:off x="6269160" y="4295913"/>
            <a:ext cx="118872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0" name="Shape 34">
            <a:extLst>
              <a:ext uri="{FF2B5EF4-FFF2-40B4-BE49-F238E27FC236}">
                <a16:creationId xmlns:a16="http://schemas.microsoft.com/office/drawing/2014/main" id="{ED2A817D-1811-42AB-8001-8F8E642C1ED4}"/>
              </a:ext>
            </a:extLst>
          </p:cNvPr>
          <p:cNvSpPr/>
          <p:nvPr/>
        </p:nvSpPr>
        <p:spPr>
          <a:xfrm>
            <a:off x="7503600" y="4295913"/>
            <a:ext cx="118872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1" name="Shape 35">
            <a:extLst>
              <a:ext uri="{FF2B5EF4-FFF2-40B4-BE49-F238E27FC236}">
                <a16:creationId xmlns:a16="http://schemas.microsoft.com/office/drawing/2014/main" id="{76DE456D-AEC2-4480-BEAF-A835821DA03F}"/>
              </a:ext>
            </a:extLst>
          </p:cNvPr>
          <p:cNvSpPr/>
          <p:nvPr/>
        </p:nvSpPr>
        <p:spPr>
          <a:xfrm>
            <a:off x="508440" y="4295913"/>
            <a:ext cx="73152" cy="4572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2" name="Text 36">
            <a:extLst>
              <a:ext uri="{FF2B5EF4-FFF2-40B4-BE49-F238E27FC236}">
                <a16:creationId xmlns:a16="http://schemas.microsoft.com/office/drawing/2014/main" id="{C9F24C8E-600C-4669-A9A2-3DC2F752AC7B}"/>
              </a:ext>
            </a:extLst>
          </p:cNvPr>
          <p:cNvSpPr/>
          <p:nvPr/>
        </p:nvSpPr>
        <p:spPr>
          <a:xfrm>
            <a:off x="645600" y="4295913"/>
            <a:ext cx="2606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y Finanzas</a:t>
            </a:r>
            <a:endParaRPr lang="en-US" sz="1050" dirty="0"/>
          </a:p>
        </p:txBody>
      </p:sp>
      <p:sp>
        <p:nvSpPr>
          <p:cNvPr id="103" name="Text 37">
            <a:extLst>
              <a:ext uri="{FF2B5EF4-FFF2-40B4-BE49-F238E27FC236}">
                <a16:creationId xmlns:a16="http://schemas.microsoft.com/office/drawing/2014/main" id="{59528349-07A3-4B3F-835B-76ABA985B33F}"/>
              </a:ext>
            </a:extLst>
          </p:cNvPr>
          <p:cNvSpPr/>
          <p:nvPr/>
        </p:nvSpPr>
        <p:spPr>
          <a:xfrm>
            <a:off x="3297360" y="429591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35, 37, 39, 41, 42</a:t>
            </a:r>
            <a:endParaRPr lang="en-US" sz="1050" dirty="0"/>
          </a:p>
        </p:txBody>
      </p:sp>
      <p:sp>
        <p:nvSpPr>
          <p:cNvPr id="104" name="Text 38">
            <a:extLst>
              <a:ext uri="{FF2B5EF4-FFF2-40B4-BE49-F238E27FC236}">
                <a16:creationId xmlns:a16="http://schemas.microsoft.com/office/drawing/2014/main" id="{C7B24686-DB7A-4A18-946F-316F8FF3D36C}"/>
              </a:ext>
            </a:extLst>
          </p:cNvPr>
          <p:cNvSpPr/>
          <p:nvPr/>
        </p:nvSpPr>
        <p:spPr>
          <a:xfrm>
            <a:off x="6269160" y="4295913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050" dirty="0"/>
          </a:p>
        </p:txBody>
      </p:sp>
      <p:sp>
        <p:nvSpPr>
          <p:cNvPr id="105" name="Text 39">
            <a:extLst>
              <a:ext uri="{FF2B5EF4-FFF2-40B4-BE49-F238E27FC236}">
                <a16:creationId xmlns:a16="http://schemas.microsoft.com/office/drawing/2014/main" id="{AAB15FDF-603F-4BDA-9893-8D9D1781DE7F}"/>
              </a:ext>
            </a:extLst>
          </p:cNvPr>
          <p:cNvSpPr/>
          <p:nvPr/>
        </p:nvSpPr>
        <p:spPr>
          <a:xfrm>
            <a:off x="7503600" y="4295913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HH</a:t>
            </a:r>
            <a:endParaRPr lang="en-US" sz="1050" dirty="0"/>
          </a:p>
        </p:txBody>
      </p:sp>
      <p:sp>
        <p:nvSpPr>
          <p:cNvPr id="106" name="Shape 40">
            <a:extLst>
              <a:ext uri="{FF2B5EF4-FFF2-40B4-BE49-F238E27FC236}">
                <a16:creationId xmlns:a16="http://schemas.microsoft.com/office/drawing/2014/main" id="{5BEB8A16-AA6E-4A2F-A1F1-BB5615AB08CE}"/>
              </a:ext>
            </a:extLst>
          </p:cNvPr>
          <p:cNvSpPr/>
          <p:nvPr/>
        </p:nvSpPr>
        <p:spPr>
          <a:xfrm>
            <a:off x="508440" y="4798833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7" name="Shape 41">
            <a:extLst>
              <a:ext uri="{FF2B5EF4-FFF2-40B4-BE49-F238E27FC236}">
                <a16:creationId xmlns:a16="http://schemas.microsoft.com/office/drawing/2014/main" id="{C1CB788F-57D4-429F-AD21-C1BEE6CA09B1}"/>
              </a:ext>
            </a:extLst>
          </p:cNvPr>
          <p:cNvSpPr/>
          <p:nvPr/>
        </p:nvSpPr>
        <p:spPr>
          <a:xfrm>
            <a:off x="3297360" y="4798833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8" name="Shape 42">
            <a:extLst>
              <a:ext uri="{FF2B5EF4-FFF2-40B4-BE49-F238E27FC236}">
                <a16:creationId xmlns:a16="http://schemas.microsoft.com/office/drawing/2014/main" id="{536612DF-9037-491C-AB99-6339D354C602}"/>
              </a:ext>
            </a:extLst>
          </p:cNvPr>
          <p:cNvSpPr/>
          <p:nvPr/>
        </p:nvSpPr>
        <p:spPr>
          <a:xfrm>
            <a:off x="6269160" y="4798833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9" name="Shape 43">
            <a:extLst>
              <a:ext uri="{FF2B5EF4-FFF2-40B4-BE49-F238E27FC236}">
                <a16:creationId xmlns:a16="http://schemas.microsoft.com/office/drawing/2014/main" id="{9A8D564C-9A2F-46DF-A063-00A3169B5B5E}"/>
              </a:ext>
            </a:extLst>
          </p:cNvPr>
          <p:cNvSpPr/>
          <p:nvPr/>
        </p:nvSpPr>
        <p:spPr>
          <a:xfrm>
            <a:off x="7503600" y="4798833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0" name="Shape 44">
            <a:extLst>
              <a:ext uri="{FF2B5EF4-FFF2-40B4-BE49-F238E27FC236}">
                <a16:creationId xmlns:a16="http://schemas.microsoft.com/office/drawing/2014/main" id="{C55676FC-7CD2-43C6-BB16-CCB6E023218B}"/>
              </a:ext>
            </a:extLst>
          </p:cNvPr>
          <p:cNvSpPr/>
          <p:nvPr/>
        </p:nvSpPr>
        <p:spPr>
          <a:xfrm>
            <a:off x="508440" y="4798833"/>
            <a:ext cx="73152" cy="4572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11" name="Text 45">
            <a:extLst>
              <a:ext uri="{FF2B5EF4-FFF2-40B4-BE49-F238E27FC236}">
                <a16:creationId xmlns:a16="http://schemas.microsoft.com/office/drawing/2014/main" id="{1A7CE27F-6F4E-46EA-8DFE-FEFE6BCAD211}"/>
              </a:ext>
            </a:extLst>
          </p:cNvPr>
          <p:cNvSpPr/>
          <p:nvPr/>
        </p:nvSpPr>
        <p:spPr>
          <a:xfrm>
            <a:off x="645600" y="4798833"/>
            <a:ext cx="2606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Documental</a:t>
            </a:r>
            <a:endParaRPr lang="en-US" sz="1050" dirty="0"/>
          </a:p>
        </p:txBody>
      </p:sp>
      <p:sp>
        <p:nvSpPr>
          <p:cNvPr id="112" name="Text 46">
            <a:extLst>
              <a:ext uri="{FF2B5EF4-FFF2-40B4-BE49-F238E27FC236}">
                <a16:creationId xmlns:a16="http://schemas.microsoft.com/office/drawing/2014/main" id="{03D49453-D085-4AC3-92D3-D73C6418DE1E}"/>
              </a:ext>
            </a:extLst>
          </p:cNvPr>
          <p:cNvSpPr/>
          <p:nvPr/>
        </p:nvSpPr>
        <p:spPr>
          <a:xfrm>
            <a:off x="3297360" y="479883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44, 45, 47</a:t>
            </a:r>
            <a:endParaRPr lang="en-US" sz="1050" dirty="0"/>
          </a:p>
        </p:txBody>
      </p:sp>
      <p:sp>
        <p:nvSpPr>
          <p:cNvPr id="113" name="Text 47">
            <a:extLst>
              <a:ext uri="{FF2B5EF4-FFF2-40B4-BE49-F238E27FC236}">
                <a16:creationId xmlns:a16="http://schemas.microsoft.com/office/drawing/2014/main" id="{FE02BC79-5451-452E-A839-68648FFDE407}"/>
              </a:ext>
            </a:extLst>
          </p:cNvPr>
          <p:cNvSpPr/>
          <p:nvPr/>
        </p:nvSpPr>
        <p:spPr>
          <a:xfrm>
            <a:off x="6269160" y="4798833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050" dirty="0"/>
          </a:p>
        </p:txBody>
      </p:sp>
      <p:sp>
        <p:nvSpPr>
          <p:cNvPr id="114" name="Text 48">
            <a:extLst>
              <a:ext uri="{FF2B5EF4-FFF2-40B4-BE49-F238E27FC236}">
                <a16:creationId xmlns:a16="http://schemas.microsoft.com/office/drawing/2014/main" id="{9520253D-8A85-4ABC-BFA3-8DCDE435ED92}"/>
              </a:ext>
            </a:extLst>
          </p:cNvPr>
          <p:cNvSpPr/>
          <p:nvPr/>
        </p:nvSpPr>
        <p:spPr>
          <a:xfrm>
            <a:off x="7503600" y="4798833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HH</a:t>
            </a:r>
            <a:endParaRPr lang="en-US" sz="1050" dirty="0"/>
          </a:p>
        </p:txBody>
      </p:sp>
      <p:sp>
        <p:nvSpPr>
          <p:cNvPr id="115" name="Shape 49">
            <a:extLst>
              <a:ext uri="{FF2B5EF4-FFF2-40B4-BE49-F238E27FC236}">
                <a16:creationId xmlns:a16="http://schemas.microsoft.com/office/drawing/2014/main" id="{7F50CE82-AAEC-4F16-A3D5-9BB268D61718}"/>
              </a:ext>
            </a:extLst>
          </p:cNvPr>
          <p:cNvSpPr/>
          <p:nvPr/>
        </p:nvSpPr>
        <p:spPr>
          <a:xfrm>
            <a:off x="508440" y="5301753"/>
            <a:ext cx="274320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6" name="Shape 50">
            <a:extLst>
              <a:ext uri="{FF2B5EF4-FFF2-40B4-BE49-F238E27FC236}">
                <a16:creationId xmlns:a16="http://schemas.microsoft.com/office/drawing/2014/main" id="{8468ECFD-CDF8-4399-A8D6-7F6081A8526B}"/>
              </a:ext>
            </a:extLst>
          </p:cNvPr>
          <p:cNvSpPr/>
          <p:nvPr/>
        </p:nvSpPr>
        <p:spPr>
          <a:xfrm>
            <a:off x="3297360" y="5301753"/>
            <a:ext cx="292608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7" name="Shape 51">
            <a:extLst>
              <a:ext uri="{FF2B5EF4-FFF2-40B4-BE49-F238E27FC236}">
                <a16:creationId xmlns:a16="http://schemas.microsoft.com/office/drawing/2014/main" id="{0698C00D-8908-4F2A-963C-2C3398A2722F}"/>
              </a:ext>
            </a:extLst>
          </p:cNvPr>
          <p:cNvSpPr/>
          <p:nvPr/>
        </p:nvSpPr>
        <p:spPr>
          <a:xfrm>
            <a:off x="6269160" y="5301753"/>
            <a:ext cx="118872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8" name="Shape 52">
            <a:extLst>
              <a:ext uri="{FF2B5EF4-FFF2-40B4-BE49-F238E27FC236}">
                <a16:creationId xmlns:a16="http://schemas.microsoft.com/office/drawing/2014/main" id="{95861CE2-2F1A-4873-870F-1DEC6FC1F273}"/>
              </a:ext>
            </a:extLst>
          </p:cNvPr>
          <p:cNvSpPr/>
          <p:nvPr/>
        </p:nvSpPr>
        <p:spPr>
          <a:xfrm>
            <a:off x="7503600" y="5301753"/>
            <a:ext cx="1188720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9" name="Shape 53">
            <a:extLst>
              <a:ext uri="{FF2B5EF4-FFF2-40B4-BE49-F238E27FC236}">
                <a16:creationId xmlns:a16="http://schemas.microsoft.com/office/drawing/2014/main" id="{9022CE3B-2FF4-49CB-9FB9-BAF479F3B4E5}"/>
              </a:ext>
            </a:extLst>
          </p:cNvPr>
          <p:cNvSpPr/>
          <p:nvPr/>
        </p:nvSpPr>
        <p:spPr>
          <a:xfrm>
            <a:off x="508440" y="5301753"/>
            <a:ext cx="73152" cy="45720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20" name="Text 54">
            <a:extLst>
              <a:ext uri="{FF2B5EF4-FFF2-40B4-BE49-F238E27FC236}">
                <a16:creationId xmlns:a16="http://schemas.microsoft.com/office/drawing/2014/main" id="{791C91E1-69E1-429C-8464-33B6B9BDEDDC}"/>
              </a:ext>
            </a:extLst>
          </p:cNvPr>
          <p:cNvSpPr/>
          <p:nvPr/>
        </p:nvSpPr>
        <p:spPr>
          <a:xfrm>
            <a:off x="645600" y="5301753"/>
            <a:ext cx="2606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Ppto. y Riesgos</a:t>
            </a:r>
            <a:endParaRPr lang="en-US" sz="1050" dirty="0"/>
          </a:p>
        </p:txBody>
      </p:sp>
      <p:sp>
        <p:nvSpPr>
          <p:cNvPr id="121" name="Text 55">
            <a:extLst>
              <a:ext uri="{FF2B5EF4-FFF2-40B4-BE49-F238E27FC236}">
                <a16:creationId xmlns:a16="http://schemas.microsoft.com/office/drawing/2014/main" id="{C9FC987F-4ADF-40AF-BF9E-712BBBC61339}"/>
              </a:ext>
            </a:extLst>
          </p:cNvPr>
          <p:cNvSpPr/>
          <p:nvPr/>
        </p:nvSpPr>
        <p:spPr>
          <a:xfrm>
            <a:off x="3297360" y="530175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54, 55, 56, 57, 58</a:t>
            </a:r>
            <a:endParaRPr lang="en-US" sz="1050" dirty="0"/>
          </a:p>
        </p:txBody>
      </p:sp>
      <p:sp>
        <p:nvSpPr>
          <p:cNvPr id="122" name="Text 56">
            <a:extLst>
              <a:ext uri="{FF2B5EF4-FFF2-40B4-BE49-F238E27FC236}">
                <a16:creationId xmlns:a16="http://schemas.microsoft.com/office/drawing/2014/main" id="{5BD80FC1-99A9-456F-998C-3CE9C3771A3D}"/>
              </a:ext>
            </a:extLst>
          </p:cNvPr>
          <p:cNvSpPr/>
          <p:nvPr/>
        </p:nvSpPr>
        <p:spPr>
          <a:xfrm>
            <a:off x="6269160" y="5301753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1050" dirty="0"/>
          </a:p>
        </p:txBody>
      </p:sp>
      <p:sp>
        <p:nvSpPr>
          <p:cNvPr id="123" name="Text 57">
            <a:extLst>
              <a:ext uri="{FF2B5EF4-FFF2-40B4-BE49-F238E27FC236}">
                <a16:creationId xmlns:a16="http://schemas.microsoft.com/office/drawing/2014/main" id="{7EACA3EF-B244-49B9-B29F-70CF7FCBA579}"/>
              </a:ext>
            </a:extLst>
          </p:cNvPr>
          <p:cNvSpPr/>
          <p:nvPr/>
        </p:nvSpPr>
        <p:spPr>
          <a:xfrm>
            <a:off x="7503600" y="5301753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HH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7657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122611"/>
            <a:ext cx="820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dirty="0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CU 16: Cargando Evidencias Fotográficas de Avance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0104E6D-BC6E-4E1F-BBE0-B0BF56E4A6CD}"/>
              </a:ext>
            </a:extLst>
          </p:cNvPr>
          <p:cNvSpPr/>
          <p:nvPr/>
        </p:nvSpPr>
        <p:spPr>
          <a:xfrm>
            <a:off x="274320" y="114300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1A2744"/>
          </a:solidFill>
          <a:ln w="19050">
            <a:solidFill>
              <a:srgbClr val="FFB300"/>
            </a:solidFill>
            <a:prstDash val="solid"/>
          </a:ln>
        </p:spPr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024A49F9-D5C0-4E18-9DE6-EDA8C9619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61872"/>
            <a:ext cx="411480" cy="411480"/>
          </a:xfrm>
          <a:prstGeom prst="rect">
            <a:avLst/>
          </a:prstGeom>
        </p:spPr>
      </p:pic>
      <p:sp>
        <p:nvSpPr>
          <p:cNvPr id="29" name="Text 4">
            <a:extLst>
              <a:ext uri="{FF2B5EF4-FFF2-40B4-BE49-F238E27FC236}">
                <a16:creationId xmlns:a16="http://schemas.microsoft.com/office/drawing/2014/main" id="{B9F63155-9B2A-42C4-9C6D-408085B0C4A5}"/>
              </a:ext>
            </a:extLst>
          </p:cNvPr>
          <p:cNvSpPr/>
          <p:nvPr/>
        </p:nvSpPr>
        <p:spPr>
          <a:xfrm>
            <a:off x="100584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</a:t>
            </a:r>
            <a:r>
              <a:rPr lang="en-US" sz="1100" b="1" dirty="0" err="1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</a:t>
            </a:r>
            <a:r>
              <a:rPr lang="en-US" sz="1100" b="1" dirty="0" err="1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Destacado</a:t>
            </a: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</a:t>
            </a: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ERP?</a:t>
            </a:r>
            <a:endParaRPr lang="en-US" sz="11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0CC8C209-0DA8-444F-99E5-9141BFFD668F}"/>
              </a:ext>
            </a:extLst>
          </p:cNvPr>
          <p:cNvSpPr/>
          <p:nvPr/>
        </p:nvSpPr>
        <p:spPr>
          <a:xfrm>
            <a:off x="100584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cámara móvil + compresión automática</a:t>
            </a:r>
            <a:endParaRPr lang="en-US" sz="10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DBE19D31-57CA-4AB8-A1B6-9B9819BAAC3E}"/>
              </a:ext>
            </a:extLst>
          </p:cNvPr>
          <p:cNvSpPr/>
          <p:nvPr/>
        </p:nvSpPr>
        <p:spPr>
          <a:xfrm>
            <a:off x="27432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</a:t>
            </a:r>
            <a:endParaRPr lang="en-US" sz="110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36E97FC7-A2DE-4191-9893-08CF87C88308}"/>
              </a:ext>
            </a:extLst>
          </p:cNvPr>
          <p:cNvSpPr/>
          <p:nvPr/>
        </p:nvSpPr>
        <p:spPr>
          <a:xfrm>
            <a:off x="4389120" y="1143000"/>
            <a:ext cx="4480560" cy="1161288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C2BCBD86-CC4C-4CE6-A5AC-A4C2FC3F8841}"/>
              </a:ext>
            </a:extLst>
          </p:cNvPr>
          <p:cNvSpPr/>
          <p:nvPr/>
        </p:nvSpPr>
        <p:spPr>
          <a:xfrm>
            <a:off x="4526280" y="1207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TÉCNICOS</a:t>
            </a:r>
            <a:endParaRPr lang="en-US" sz="110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EE258FDA-1C82-4372-A3B8-89B2D2C4EB24}"/>
              </a:ext>
            </a:extLst>
          </p:cNvPr>
          <p:cNvSpPr/>
          <p:nvPr/>
        </p:nvSpPr>
        <p:spPr>
          <a:xfrm>
            <a:off x="4526280" y="1347677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</a:t>
            </a:r>
            <a:r>
              <a:rPr lang="en-US" sz="105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Supervisor de Obra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Dependencia:</a:t>
            </a:r>
            <a:r>
              <a:rPr lang="en-US" sz="105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UR-F-15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Tecnología:</a:t>
            </a:r>
            <a:r>
              <a:rPr lang="en-US" sz="105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Web Geolocation API + Multer + React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Frecuencia:</a:t>
            </a:r>
            <a:r>
              <a:rPr lang="en-US" sz="105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Diaria — durante jornadas de terreno</a:t>
            </a:r>
            <a:endParaRPr lang="en-US" sz="105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6C526528-3E3E-4992-A966-05233FB15E5A}"/>
              </a:ext>
            </a:extLst>
          </p:cNvPr>
          <p:cNvSpPr/>
          <p:nvPr/>
        </p:nvSpPr>
        <p:spPr>
          <a:xfrm>
            <a:off x="4389120" y="2444957"/>
            <a:ext cx="4480560" cy="1280160"/>
          </a:xfrm>
          <a:prstGeom prst="roundRect">
            <a:avLst>
              <a:gd name="adj" fmla="val 7143"/>
            </a:avLst>
          </a:prstGeom>
          <a:solidFill>
            <a:srgbClr val="1A2744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43" name="Image 1" descr="preencoded.png">
            <a:extLst>
              <a:ext uri="{FF2B5EF4-FFF2-40B4-BE49-F238E27FC236}">
                <a16:creationId xmlns:a16="http://schemas.microsoft.com/office/drawing/2014/main" id="{44374A1F-1BB2-4012-98A5-5743C7785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2518109"/>
            <a:ext cx="347472" cy="347472"/>
          </a:xfrm>
          <a:prstGeom prst="rect">
            <a:avLst/>
          </a:prstGeom>
        </p:spPr>
      </p:pic>
      <p:sp>
        <p:nvSpPr>
          <p:cNvPr id="44" name="Text 18">
            <a:extLst>
              <a:ext uri="{FF2B5EF4-FFF2-40B4-BE49-F238E27FC236}">
                <a16:creationId xmlns:a16="http://schemas.microsoft.com/office/drawing/2014/main" id="{3DA17ADC-36EF-4CE0-82AB-66C02FFD564C}"/>
              </a:ext>
            </a:extLst>
          </p:cNvPr>
          <p:cNvSpPr/>
          <p:nvPr/>
        </p:nvSpPr>
        <p:spPr>
          <a:xfrm>
            <a:off x="4937760" y="251810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EXCEPCIONES</a:t>
            </a:r>
            <a:endParaRPr lang="en-US" sz="110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DCC806E6-12C2-4FE6-909F-D458693879A1}"/>
              </a:ext>
            </a:extLst>
          </p:cNvPr>
          <p:cNvSpPr/>
          <p:nvPr/>
        </p:nvSpPr>
        <p:spPr>
          <a:xfrm>
            <a:off x="4526280" y="2902157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 denegado: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informa y sugiere habilitar permisos en el dispositivo.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 de carga: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guarda la foto en cola para cuando haya señal.</a:t>
            </a:r>
            <a:endParaRPr lang="en-US" sz="100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1D863BC0-2BA3-4E49-B1D4-7A4171F3B733}"/>
              </a:ext>
            </a:extLst>
          </p:cNvPr>
          <p:cNvSpPr/>
          <p:nvPr/>
        </p:nvSpPr>
        <p:spPr>
          <a:xfrm>
            <a:off x="4389120" y="3865786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1B5E20">
              <a:alpha val="9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D03DD81D-5380-4B9B-8762-C0A24C50218D}"/>
              </a:ext>
            </a:extLst>
          </p:cNvPr>
          <p:cNvSpPr/>
          <p:nvPr/>
        </p:nvSpPr>
        <p:spPr>
          <a:xfrm>
            <a:off x="4526280" y="393893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POSTCONDICIÓN: Imágenes almacenadas en la galería del proyecto vinculadas al reporte, con geolocalización y timestamp verificados.</a:t>
            </a:r>
            <a:endParaRPr lang="en-US" sz="100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D0EF367B-CA3B-4DFE-B857-FE32EADDA6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" y="5012733"/>
            <a:ext cx="3977640" cy="1404534"/>
          </a:xfrm>
          <a:prstGeom prst="rect">
            <a:avLst/>
          </a:prstGeom>
        </p:spPr>
      </p:pic>
      <p:sp>
        <p:nvSpPr>
          <p:cNvPr id="50" name="Shape 7">
            <a:extLst>
              <a:ext uri="{FF2B5EF4-FFF2-40B4-BE49-F238E27FC236}">
                <a16:creationId xmlns:a16="http://schemas.microsoft.com/office/drawing/2014/main" id="{03BE6B0E-CE42-4386-98E2-211533D83BBC}"/>
              </a:ext>
            </a:extLst>
          </p:cNvPr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C98C4EFC-B5DB-4B60-801E-7B05F7C708C6}"/>
              </a:ext>
            </a:extLst>
          </p:cNvPr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Actor accede a “Carga de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Proyecto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</a:t>
            </a:r>
            <a:endParaRPr lang="en-US" sz="1000" dirty="0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2DCDE677-DB39-4FC8-B8C5-7917390E8242}"/>
              </a:ext>
            </a:extLst>
          </p:cNvPr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DB229DC0-EBD1-4BD2-8BAD-60EBBAA1919E}"/>
              </a:ext>
            </a:extLst>
          </p:cNvPr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Sistema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</a:t>
            </a:r>
            <a:endParaRPr lang="en-US" sz="1000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C7FFD850-C4D6-434C-B0EB-D3AED73161BB}"/>
              </a:ext>
            </a:extLst>
          </p:cNvPr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793ED75D-E84F-4A4C-BA54-0C3A44AB3752}"/>
              </a:ext>
            </a:extLst>
          </p:cNvPr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Actor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fotográfía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</a:t>
            </a:r>
            <a:endParaRPr lang="en-US" sz="1000" dirty="0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A5C81CDD-EA44-4BC8-BAB7-6E9302BAA678}"/>
              </a:ext>
            </a:extLst>
          </p:cNvPr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5713AB83-EE06-465F-A8AB-251CB9828BC6}"/>
              </a:ext>
            </a:extLst>
          </p:cNvPr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Sistema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vista previa para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</a:t>
            </a:r>
            <a:endParaRPr lang="en-US" sz="1000" dirty="0"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C2C04102-856B-4BAD-BB58-24A9A8047B73}"/>
              </a:ext>
            </a:extLst>
          </p:cNvPr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B2D963A9-D670-49DB-A7CA-5538C821380A}"/>
              </a:ext>
            </a:extLst>
          </p:cNvPr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Sistema </a:t>
            </a:r>
            <a:r>
              <a:rPr lang="en-US" sz="10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comprime</a:t>
            </a: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imagen y la </a:t>
            </a:r>
            <a:r>
              <a:rPr lang="en-US" sz="10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</a:t>
            </a:r>
            <a:endParaRPr lang="en-US" sz="1000" dirty="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5538079C-2B1A-41BF-82B3-33C893B658D3}"/>
              </a:ext>
            </a:extLst>
          </p:cNvPr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E48E9F0C-2624-4DE6-8B59-CFA38309E8E6}"/>
              </a:ext>
            </a:extLst>
          </p:cNvPr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Sistema asocial </a:t>
            </a:r>
            <a:r>
              <a:rPr lang="en-US" sz="10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</a:t>
            </a: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0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GPS y </a:t>
            </a:r>
            <a:r>
              <a:rPr lang="en-US" sz="1000" b="1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</a:t>
            </a:r>
            <a:endParaRPr lang="en-US" sz="1000" dirty="0"/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C7DE7B5F-F9C1-457D-8982-C8498F2D5FAF}"/>
              </a:ext>
            </a:extLst>
          </p:cNvPr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3EEBC809-4A10-4487-8270-9C17192A58A4}"/>
              </a:ext>
            </a:extLst>
          </p:cNvPr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“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cargada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000" dirty="0" err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éxito</a:t>
            </a: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549D7E-ACD9-4355-AAE3-99291FDA05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733050"/>
            <a:ext cx="3600184" cy="199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0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108336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dirty="0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Diagrama de Secuencia CU 16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5523F4-0123-40BF-890B-6877CF294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1" y="942942"/>
            <a:ext cx="10693957" cy="594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1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dirty="0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Captura de Cargas Evidencia Fotográficas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C30EEE-ECF0-431B-BD8D-13A99232C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91038"/>
            <a:ext cx="9144000" cy="417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5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dirty="0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CU 41: Graficando Desviación de costos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67FEAD3-7B14-4A07-B8D3-63D8C86728A5}"/>
              </a:ext>
            </a:extLst>
          </p:cNvPr>
          <p:cNvSpPr/>
          <p:nvPr/>
        </p:nvSpPr>
        <p:spPr>
          <a:xfrm>
            <a:off x="274320" y="11430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1872BE5-7BB9-4214-B5A0-3C423DDB8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2728"/>
            <a:ext cx="384048" cy="384048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37FFF1B5-75EC-41C9-8056-B07A3ACABD91}"/>
              </a:ext>
            </a:extLst>
          </p:cNvPr>
          <p:cNvSpPr/>
          <p:nvPr/>
        </p:nvSpPr>
        <p:spPr>
          <a:xfrm>
            <a:off x="960120" y="1170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</a:t>
            </a:r>
            <a:r>
              <a:rPr lang="en-US" sz="1100" b="1" dirty="0" err="1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</a:t>
            </a:r>
            <a:r>
              <a:rPr lang="en-US" sz="1100" b="1" dirty="0" err="1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destacado</a:t>
            </a: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</a:t>
            </a: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ERP?</a:t>
            </a:r>
            <a:endParaRPr lang="en-US" sz="11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57438FB-546D-401B-A75F-482673DA626D}"/>
              </a:ext>
            </a:extLst>
          </p:cNvPr>
          <p:cNvSpPr/>
          <p:nvPr/>
        </p:nvSpPr>
        <p:spPr>
          <a:xfrm>
            <a:off x="96012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visual: cruza presupuesto planificado vs gastos reales en tiempo real</a:t>
            </a:r>
            <a:endParaRPr lang="en-US" sz="1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60A82B3-D227-43ED-B201-8536D0ED32A9}"/>
              </a:ext>
            </a:extLst>
          </p:cNvPr>
          <p:cNvSpPr/>
          <p:nvPr/>
        </p:nvSpPr>
        <p:spPr>
          <a:xfrm>
            <a:off x="274320" y="1938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</a:t>
            </a:r>
            <a:endParaRPr lang="en-US" sz="11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612F1E4-F5D9-4970-A3B4-EF8F9200E6BC}"/>
              </a:ext>
            </a:extLst>
          </p:cNvPr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75F2D34-9CF0-4536-9FD2-383DA807341E}"/>
              </a:ext>
            </a:extLst>
          </p:cNvPr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Actor accede a Finanzas → Control de Costos</a:t>
            </a:r>
            <a:endParaRPr lang="en-US" sz="10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FD9E859-300F-4D6A-AEFB-90768150F0BA}"/>
              </a:ext>
            </a:extLst>
          </p:cNvPr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A7A3282-5B26-413A-8584-58B32CD22296}"/>
              </a:ext>
            </a:extLst>
          </p:cNvPr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Selecciona proyecto y período de análisis</a:t>
            </a:r>
            <a:endParaRPr lang="en-US" sz="10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0F90113-E447-4406-AD62-1936BFEA5A0B}"/>
              </a:ext>
            </a:extLst>
          </p:cNvPr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158DDCA-4710-47C4-B9C9-564244364626}"/>
              </a:ext>
            </a:extLst>
          </p:cNvPr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Sistema suma gastos reales (facturas + personal)</a:t>
            </a:r>
            <a:endParaRPr lang="en-US" sz="10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628FD63-2824-4765-95EE-B0FB97F01612}"/>
              </a:ext>
            </a:extLst>
          </p:cNvPr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A61A00D0-050A-4062-BD11-CAC3D534334B}"/>
              </a:ext>
            </a:extLst>
          </p:cNvPr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Sistema calcula varianza financiera automáticamente</a:t>
            </a:r>
            <a:endParaRPr lang="en-US" sz="10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B18F2B5-0FBF-42C0-93D3-C4BFF8A965E1}"/>
              </a:ext>
            </a:extLst>
          </p:cNvPr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ECAC7B3-4D4A-46D3-824C-5CAA9AC85AA8}"/>
              </a:ext>
            </a:extLst>
          </p:cNvPr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Genera curvas de costo en gráfico comparativo</a:t>
            </a:r>
            <a:endParaRPr lang="en-US" sz="10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1F2C073-91AD-4629-BF2F-3BCA41B51432}"/>
              </a:ext>
            </a:extLst>
          </p:cNvPr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F4F262FD-E5B4-4678-AC5E-9474A406F65A}"/>
              </a:ext>
            </a:extLst>
          </p:cNvPr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Muestra alertas si desviación negativa &gt; umbral</a:t>
            </a:r>
            <a:endParaRPr lang="en-US" sz="10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BAB203EE-69FF-4916-91C0-30F8EE5DA5D1}"/>
              </a:ext>
            </a:extLst>
          </p:cNvPr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D3ACBE73-87AC-4139-AC91-CBCC014A5B25}"/>
              </a:ext>
            </a:extLst>
          </p:cNvPr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Permite exportación del reporte de datos</a:t>
            </a:r>
            <a:endParaRPr lang="en-US" sz="10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4D73637F-1CAB-48B6-B6D4-EFF2AC5CAAC5}"/>
              </a:ext>
            </a:extLst>
          </p:cNvPr>
          <p:cNvSpPr/>
          <p:nvPr/>
        </p:nvSpPr>
        <p:spPr>
          <a:xfrm>
            <a:off x="4526280" y="1143000"/>
            <a:ext cx="4343400" cy="1161288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AF823A78-3254-4F16-8F2D-EB5DE5D15CE2}"/>
              </a:ext>
            </a:extLst>
          </p:cNvPr>
          <p:cNvSpPr/>
          <p:nvPr/>
        </p:nvSpPr>
        <p:spPr>
          <a:xfrm>
            <a:off x="4663440" y="1207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TÉCNICOS</a:t>
            </a:r>
            <a:endParaRPr lang="en-US" sz="11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8D02519F-45BA-40D6-BF42-5A9C4B6BA69C}"/>
              </a:ext>
            </a:extLst>
          </p:cNvPr>
          <p:cNvSpPr/>
          <p:nvPr/>
        </p:nvSpPr>
        <p:spPr>
          <a:xfrm>
            <a:off x="4663440" y="1325023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</a:t>
            </a:r>
            <a:r>
              <a:rPr lang="en-US" sz="105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Administrador Total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Dependencia:</a:t>
            </a:r>
            <a:r>
              <a:rPr lang="en-US" sz="105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UR-F-45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Tecnología:</a:t>
            </a:r>
            <a:r>
              <a:rPr lang="en-US" sz="105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Recharts / Chart.js + Express + MySQL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Frecuencia:</a:t>
            </a:r>
            <a:r>
              <a:rPr lang="en-US" sz="105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demanda — seguimiento financiero</a:t>
            </a:r>
            <a:endParaRPr lang="en-US" sz="105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31D647C5-E553-482E-B8A2-46B8B92982B2}"/>
              </a:ext>
            </a:extLst>
          </p:cNvPr>
          <p:cNvSpPr/>
          <p:nvPr/>
        </p:nvSpPr>
        <p:spPr>
          <a:xfrm>
            <a:off x="4526280" y="2428473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DE DESVIACIÓN (REFERENCIA)</a:t>
            </a:r>
            <a:endParaRPr lang="en-US" sz="1000" dirty="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B13CF1E9-95F4-4B6F-8741-8EDE174CBC08}"/>
              </a:ext>
            </a:extLst>
          </p:cNvPr>
          <p:cNvSpPr/>
          <p:nvPr/>
        </p:nvSpPr>
        <p:spPr>
          <a:xfrm>
            <a:off x="4663440" y="2914167"/>
            <a:ext cx="64008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BD94D2DF-5EB4-4266-BB4A-D6216739CC4D}"/>
              </a:ext>
            </a:extLst>
          </p:cNvPr>
          <p:cNvSpPr/>
          <p:nvPr/>
        </p:nvSpPr>
        <p:spPr>
          <a:xfrm>
            <a:off x="5349240" y="3023895"/>
            <a:ext cx="640080" cy="5486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BD518242-FCD1-4E02-A7AD-ADE9B035BFCD}"/>
              </a:ext>
            </a:extLst>
          </p:cNvPr>
          <p:cNvSpPr/>
          <p:nvPr/>
        </p:nvSpPr>
        <p:spPr>
          <a:xfrm>
            <a:off x="4617720" y="3618255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</a:t>
            </a:r>
            <a:endParaRPr lang="en-US" sz="9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F0AA3AB3-1431-4118-8113-A7E7EE8C9958}"/>
              </a:ext>
            </a:extLst>
          </p:cNvPr>
          <p:cNvSpPr/>
          <p:nvPr/>
        </p:nvSpPr>
        <p:spPr>
          <a:xfrm>
            <a:off x="6217920" y="2914167"/>
            <a:ext cx="64008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41908BFB-14DC-483F-8FAE-70FDC65E643B}"/>
              </a:ext>
            </a:extLst>
          </p:cNvPr>
          <p:cNvSpPr/>
          <p:nvPr/>
        </p:nvSpPr>
        <p:spPr>
          <a:xfrm>
            <a:off x="6903720" y="2804439"/>
            <a:ext cx="640080" cy="76809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85429232-9F0E-43A5-9392-04896E035E1F}"/>
              </a:ext>
            </a:extLst>
          </p:cNvPr>
          <p:cNvSpPr/>
          <p:nvPr/>
        </p:nvSpPr>
        <p:spPr>
          <a:xfrm>
            <a:off x="6172200" y="3618255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900" dirty="0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82CFC895-F1D0-4809-A1DE-372E88ABDCF2}"/>
              </a:ext>
            </a:extLst>
          </p:cNvPr>
          <p:cNvSpPr/>
          <p:nvPr/>
        </p:nvSpPr>
        <p:spPr>
          <a:xfrm>
            <a:off x="7772400" y="2914167"/>
            <a:ext cx="64008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7D28ADC2-ED86-42CB-8240-B659A69ACD8B}"/>
              </a:ext>
            </a:extLst>
          </p:cNvPr>
          <p:cNvSpPr/>
          <p:nvPr/>
        </p:nvSpPr>
        <p:spPr>
          <a:xfrm>
            <a:off x="8458200" y="2694711"/>
            <a:ext cx="640080" cy="87782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10780F05-6C99-4F3E-8634-2A22385E3320}"/>
              </a:ext>
            </a:extLst>
          </p:cNvPr>
          <p:cNvSpPr/>
          <p:nvPr/>
        </p:nvSpPr>
        <p:spPr>
          <a:xfrm>
            <a:off x="7726680" y="3618255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F1DC7F68-E1AD-4B29-9D8A-55A850EB9217}"/>
              </a:ext>
            </a:extLst>
          </p:cNvPr>
          <p:cNvSpPr/>
          <p:nvPr/>
        </p:nvSpPr>
        <p:spPr>
          <a:xfrm>
            <a:off x="4663440" y="3773703"/>
            <a:ext cx="201168" cy="1371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03981B3-784D-4C08-9C77-B6C721E3E535}"/>
              </a:ext>
            </a:extLst>
          </p:cNvPr>
          <p:cNvSpPr/>
          <p:nvPr/>
        </p:nvSpPr>
        <p:spPr>
          <a:xfrm>
            <a:off x="4892040" y="3773703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19FA1AB-60B5-4FD1-9561-65C7FDFF8EF3}"/>
              </a:ext>
            </a:extLst>
          </p:cNvPr>
          <p:cNvSpPr/>
          <p:nvPr/>
        </p:nvSpPr>
        <p:spPr>
          <a:xfrm>
            <a:off x="6126480" y="3773703"/>
            <a:ext cx="201168" cy="1371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55A5616-45FD-4792-B6D1-76D53563035A}"/>
              </a:ext>
            </a:extLst>
          </p:cNvPr>
          <p:cNvSpPr/>
          <p:nvPr/>
        </p:nvSpPr>
        <p:spPr>
          <a:xfrm>
            <a:off x="6355080" y="3773703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(excede)</a:t>
            </a:r>
            <a:endParaRPr lang="en-US" sz="9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79B2D16-FBBE-41C3-B1F2-D7C38DB1F668}"/>
              </a:ext>
            </a:extLst>
          </p:cNvPr>
          <p:cNvSpPr/>
          <p:nvPr/>
        </p:nvSpPr>
        <p:spPr>
          <a:xfrm>
            <a:off x="7635240" y="3773703"/>
            <a:ext cx="201168" cy="1371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C9169015-05BE-4A01-8150-8D085FF00202}"/>
              </a:ext>
            </a:extLst>
          </p:cNvPr>
          <p:cNvSpPr/>
          <p:nvPr/>
        </p:nvSpPr>
        <p:spPr>
          <a:xfrm>
            <a:off x="7863840" y="3773703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(ok)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2F152FA-8840-4B2F-B159-F00FB8F8964A}"/>
              </a:ext>
            </a:extLst>
          </p:cNvPr>
          <p:cNvSpPr/>
          <p:nvPr/>
        </p:nvSpPr>
        <p:spPr>
          <a:xfrm>
            <a:off x="4526280" y="4029735"/>
            <a:ext cx="4343400" cy="384048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1769B42-80B6-4BDD-BEBE-AF1B6940C3E3}"/>
              </a:ext>
            </a:extLst>
          </p:cNvPr>
          <p:cNvSpPr/>
          <p:nvPr/>
        </p:nvSpPr>
        <p:spPr>
          <a:xfrm>
            <a:off x="4617720" y="4075455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POSTCONDICIÓN: Reporte visual con indicadores de desviación disponible para exportación.</a:t>
            </a:r>
            <a:endParaRPr lang="en-US" sz="95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5B435F1-994D-44C9-A580-F1DBFE59DA62}"/>
              </a:ext>
            </a:extLst>
          </p:cNvPr>
          <p:cNvSpPr/>
          <p:nvPr/>
        </p:nvSpPr>
        <p:spPr>
          <a:xfrm>
            <a:off x="274320" y="48280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E97BE898-DECB-43EE-8720-2E51DAFEA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" y="5012733"/>
            <a:ext cx="3977640" cy="140453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5B991BB-DF1D-46CF-843F-64886FD90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227" y="4368063"/>
            <a:ext cx="3710763" cy="227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69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itchFamily="2" charset="0"/>
                <a:ea typeface="Gungsuh" charset="-127"/>
                <a:cs typeface="Gungsuh" charset="-127"/>
              </a:rPr>
              <a:t>Diagrama de Secuencia CU 41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BFEF7C-C9D5-46CF-BC50-A9941DAB3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78" y="931686"/>
            <a:ext cx="9656109" cy="592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1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dirty="0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Captura de Desviación de costos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0AEF56-9ED7-4879-BD9C-202AB947B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36013"/>
            <a:ext cx="9144000" cy="412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04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2" y="158734"/>
            <a:ext cx="820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 dirty="0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Vistas Arquitectónicas 4+1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362EAB4-89BB-446B-92B0-26B3CBF7E301}"/>
              </a:ext>
            </a:extLst>
          </p:cNvPr>
          <p:cNvSpPr/>
          <p:nvPr/>
        </p:nvSpPr>
        <p:spPr>
          <a:xfrm>
            <a:off x="341884" y="1825313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744"/>
          </a:solidFill>
          <a:ln w="19050">
            <a:solidFill>
              <a:srgbClr val="1565C0"/>
            </a:solidFill>
            <a:prstDash val="solid"/>
          </a:ln>
        </p:spPr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0C04187F-01A5-487A-8883-89FF722EE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42" y="1889321"/>
            <a:ext cx="393192" cy="39319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B5ECE8B2-D002-4BD0-9584-ED83B03BEEC6}"/>
              </a:ext>
            </a:extLst>
          </p:cNvPr>
          <p:cNvSpPr/>
          <p:nvPr/>
        </p:nvSpPr>
        <p:spPr>
          <a:xfrm>
            <a:off x="341884" y="2168213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Lógica</a:t>
            </a:r>
            <a:endParaRPr lang="en-US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419029B-EC15-4356-B54F-2C9A93B7E75B}"/>
              </a:ext>
            </a:extLst>
          </p:cNvPr>
          <p:cNvSpPr/>
          <p:nvPr/>
        </p:nvSpPr>
        <p:spPr>
          <a:xfrm>
            <a:off x="341884" y="2556833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clases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BD MySQL (3FN)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77E90D61-1E3C-4528-B10B-43428912463E}"/>
              </a:ext>
            </a:extLst>
          </p:cNvPr>
          <p:cNvSpPr/>
          <p:nvPr/>
        </p:nvSpPr>
        <p:spPr>
          <a:xfrm>
            <a:off x="3222244" y="1825313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744"/>
          </a:solidFill>
          <a:ln w="19050">
            <a:solidFill>
              <a:srgbClr val="00838F"/>
            </a:solidFill>
            <a:prstDash val="solid"/>
          </a:ln>
        </p:spPr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BA56A228-85E0-4C8E-B95A-FAFEC4D9C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8820" y="1911223"/>
            <a:ext cx="333248" cy="333248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3B189DF4-034D-4D7E-A56B-C760118A0DFB}"/>
              </a:ext>
            </a:extLst>
          </p:cNvPr>
          <p:cNvSpPr/>
          <p:nvPr/>
        </p:nvSpPr>
        <p:spPr>
          <a:xfrm>
            <a:off x="3222244" y="2167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</a:t>
            </a:r>
            <a:r>
              <a:rPr lang="en-US" b="1" dirty="0" err="1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A64D1B4-1FF6-4273-A69A-D385078734BB}"/>
              </a:ext>
            </a:extLst>
          </p:cNvPr>
          <p:cNvSpPr/>
          <p:nvPr/>
        </p:nvSpPr>
        <p:spPr>
          <a:xfrm>
            <a:off x="3222244" y="2556833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Diagramas de secuencia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(uno por CU)</a:t>
            </a:r>
            <a:endParaRPr lang="en-US" sz="1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CA9E999C-AE0C-41F1-AECF-76D83248BFEF}"/>
              </a:ext>
            </a:extLst>
          </p:cNvPr>
          <p:cNvSpPr/>
          <p:nvPr/>
        </p:nvSpPr>
        <p:spPr>
          <a:xfrm>
            <a:off x="6102604" y="1825313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744"/>
          </a:solidFill>
          <a:ln w="19050">
            <a:solidFill>
              <a:srgbClr val="6A1B9A"/>
            </a:solidFill>
            <a:prstDash val="solid"/>
          </a:ln>
        </p:spPr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5D5D1ED1-400E-42BB-9532-90358B521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896" y="1871033"/>
            <a:ext cx="411480" cy="411480"/>
          </a:xfrm>
          <a:prstGeom prst="rect">
            <a:avLst/>
          </a:prstGeom>
        </p:spPr>
      </p:pic>
      <p:sp>
        <p:nvSpPr>
          <p:cNvPr id="23" name="Text 11">
            <a:extLst>
              <a:ext uri="{FF2B5EF4-FFF2-40B4-BE49-F238E27FC236}">
                <a16:creationId xmlns:a16="http://schemas.microsoft.com/office/drawing/2014/main" id="{E1AD3BF2-CE00-482F-9B2A-0CEBBF375517}"/>
              </a:ext>
            </a:extLst>
          </p:cNvPr>
          <p:cNvSpPr/>
          <p:nvPr/>
        </p:nvSpPr>
        <p:spPr>
          <a:xfrm>
            <a:off x="6102604" y="2145353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Desarrollo</a:t>
            </a:r>
            <a:endParaRPr lang="en-US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F03EB58-246F-40B3-AA8A-7587BE83506A}"/>
              </a:ext>
            </a:extLst>
          </p:cNvPr>
          <p:cNvSpPr/>
          <p:nvPr/>
        </p:nvSpPr>
        <p:spPr>
          <a:xfrm>
            <a:off x="6102604" y="2556833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componentes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Node + MySQL</a:t>
            </a:r>
            <a:endParaRPr lang="en-US" sz="10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35584642-0335-4BCE-9050-C5C47F29A6B4}"/>
              </a:ext>
            </a:extLst>
          </p:cNvPr>
          <p:cNvSpPr/>
          <p:nvPr/>
        </p:nvSpPr>
        <p:spPr>
          <a:xfrm>
            <a:off x="1654578" y="3981606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744"/>
          </a:solidFill>
          <a:ln w="19050">
            <a:solidFill>
              <a:srgbClr val="B71C1C"/>
            </a:solidFill>
            <a:prstDash val="solid"/>
          </a:ln>
        </p:spPr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6BD313B1-8622-43F2-9FDD-FF0BA177B5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4650" y="4084741"/>
            <a:ext cx="411480" cy="411480"/>
          </a:xfrm>
          <a:prstGeom prst="rect">
            <a:avLst/>
          </a:prstGeom>
        </p:spPr>
      </p:pic>
      <p:sp>
        <p:nvSpPr>
          <p:cNvPr id="28" name="Text 15">
            <a:extLst>
              <a:ext uri="{FF2B5EF4-FFF2-40B4-BE49-F238E27FC236}">
                <a16:creationId xmlns:a16="http://schemas.microsoft.com/office/drawing/2014/main" id="{CBB84F0D-21A2-4F62-8991-2E7792C0F3D6}"/>
              </a:ext>
            </a:extLst>
          </p:cNvPr>
          <p:cNvSpPr/>
          <p:nvPr/>
        </p:nvSpPr>
        <p:spPr>
          <a:xfrm>
            <a:off x="1654578" y="4210726"/>
            <a:ext cx="2606040" cy="59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Física</a:t>
            </a:r>
            <a:endParaRPr lang="en-US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BC5D0954-E115-4B5C-B124-1A9E5975C5AF}"/>
              </a:ext>
            </a:extLst>
          </p:cNvPr>
          <p:cNvSpPr/>
          <p:nvPr/>
        </p:nvSpPr>
        <p:spPr>
          <a:xfrm>
            <a:off x="1674650" y="4621686"/>
            <a:ext cx="258596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despliegue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+ Nginx + Ubuntu</a:t>
            </a:r>
            <a:endParaRPr lang="en-US" sz="100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E7345693-BFA1-4EF2-B81B-1D16F18B30C5}"/>
              </a:ext>
            </a:extLst>
          </p:cNvPr>
          <p:cNvSpPr/>
          <p:nvPr/>
        </p:nvSpPr>
        <p:spPr>
          <a:xfrm>
            <a:off x="4964176" y="4007592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2744"/>
          </a:solidFill>
          <a:ln w="19050">
            <a:solidFill>
              <a:srgbClr val="E65100"/>
            </a:solidFill>
            <a:prstDash val="solid"/>
          </a:ln>
        </p:spPr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342BFF5B-149F-4029-BDF6-ED8BFE0E3D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9023" y="4053323"/>
            <a:ext cx="429768" cy="429768"/>
          </a:xfrm>
          <a:prstGeom prst="rect">
            <a:avLst/>
          </a:prstGeom>
        </p:spPr>
      </p:pic>
      <p:sp>
        <p:nvSpPr>
          <p:cNvPr id="33" name="Text 19">
            <a:extLst>
              <a:ext uri="{FF2B5EF4-FFF2-40B4-BE49-F238E27FC236}">
                <a16:creationId xmlns:a16="http://schemas.microsoft.com/office/drawing/2014/main" id="{F360055E-5AF3-4403-A261-AB8FD0C79841}"/>
              </a:ext>
            </a:extLst>
          </p:cNvPr>
          <p:cNvSpPr/>
          <p:nvPr/>
        </p:nvSpPr>
        <p:spPr>
          <a:xfrm>
            <a:off x="4964176" y="43695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Externa</a:t>
            </a:r>
            <a:endParaRPr lang="en-US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39672B3B-50B9-42CB-B1D9-30DE404F9D86}"/>
              </a:ext>
            </a:extLst>
          </p:cNvPr>
          <p:cNvSpPr/>
          <p:nvPr/>
        </p:nvSpPr>
        <p:spPr>
          <a:xfrm>
            <a:off x="4991608" y="4692449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extendidos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(17 CU del incremento)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4514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2588" y="124106"/>
            <a:ext cx="820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anose="020B0604020202020204" pitchFamily="34" charset="0"/>
                <a:ea typeface="Arial" pitchFamily="34" charset="-122"/>
                <a:cs typeface="Helvetica" panose="020B0604020202020204" pitchFamily="34" charset="0"/>
              </a:rPr>
              <a:t>DAILY SCRUM  ·  SPRINT REVIEW  ·  RETROSPECTIVA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BC4EA03-DF4F-4A40-8D62-AD850EA2A516}"/>
              </a:ext>
            </a:extLst>
          </p:cNvPr>
          <p:cNvSpPr/>
          <p:nvPr/>
        </p:nvSpPr>
        <p:spPr>
          <a:xfrm>
            <a:off x="365760" y="205740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68E6E2D-70F5-4695-AB0B-9C0BFAEA055F}"/>
              </a:ext>
            </a:extLst>
          </p:cNvPr>
          <p:cNvSpPr/>
          <p:nvPr/>
        </p:nvSpPr>
        <p:spPr>
          <a:xfrm>
            <a:off x="54864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SCRUM</a:t>
            </a:r>
            <a:endParaRPr lang="en-US" sz="13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BE09340-7271-494C-A67B-707F762C0E2E}"/>
              </a:ext>
            </a:extLst>
          </p:cNvPr>
          <p:cNvSpPr/>
          <p:nvPr/>
        </p:nvSpPr>
        <p:spPr>
          <a:xfrm>
            <a:off x="548640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 15 min · Mismo lugar y hora</a:t>
            </a:r>
            <a:endParaRPr lang="en-US" sz="10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CFF72A2-8B0C-4AE2-B248-443AEBFB4335}"/>
              </a:ext>
            </a:extLst>
          </p:cNvPr>
          <p:cNvSpPr/>
          <p:nvPr/>
        </p:nvSpPr>
        <p:spPr>
          <a:xfrm>
            <a:off x="548640" y="288036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E3F2FD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2DB6E32-4062-4EFC-A338-02C11FEB79FF}"/>
              </a:ext>
            </a:extLst>
          </p:cNvPr>
          <p:cNvSpPr/>
          <p:nvPr/>
        </p:nvSpPr>
        <p:spPr>
          <a:xfrm>
            <a:off x="685800" y="2880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hice ayer?</a:t>
            </a:r>
            <a:endParaRPr lang="en-US" sz="11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132FFDC-14A8-4FE5-B4F3-0B26ABA312FB}"/>
              </a:ext>
            </a:extLst>
          </p:cNvPr>
          <p:cNvSpPr/>
          <p:nvPr/>
        </p:nvSpPr>
        <p:spPr>
          <a:xfrm>
            <a:off x="548640" y="347472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E3F2FD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07B7CA1-C347-46B6-9C0E-120386A1A508}"/>
              </a:ext>
            </a:extLst>
          </p:cNvPr>
          <p:cNvSpPr/>
          <p:nvPr/>
        </p:nvSpPr>
        <p:spPr>
          <a:xfrm>
            <a:off x="685800" y="3474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haré hoy?</a:t>
            </a:r>
            <a:endParaRPr lang="en-US" sz="11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C029E41-C9C6-4D30-AA12-D2EB4A5AA30E}"/>
              </a:ext>
            </a:extLst>
          </p:cNvPr>
          <p:cNvSpPr/>
          <p:nvPr/>
        </p:nvSpPr>
        <p:spPr>
          <a:xfrm>
            <a:off x="548640" y="40690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E3F2FD"/>
          </a:solidFill>
          <a:ln w="19050">
            <a:solidFill>
              <a:srgbClr val="01579B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219B00D-F28D-439A-BE07-87D0CCF44029}"/>
              </a:ext>
            </a:extLst>
          </p:cNvPr>
          <p:cNvSpPr/>
          <p:nvPr/>
        </p:nvSpPr>
        <p:spPr>
          <a:xfrm>
            <a:off x="68580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impedimentos?</a:t>
            </a:r>
            <a:endParaRPr lang="en-US" sz="11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021B1A1-B002-4FA4-A661-64D525E2C6BB}"/>
              </a:ext>
            </a:extLst>
          </p:cNvPr>
          <p:cNvSpPr/>
          <p:nvPr/>
        </p:nvSpPr>
        <p:spPr>
          <a:xfrm>
            <a:off x="548640" y="4690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A1DDDF3-0F1E-44E1-8F13-56DFED3C4C80}"/>
              </a:ext>
            </a:extLst>
          </p:cNvPr>
          <p:cNvSpPr/>
          <p:nvPr/>
        </p:nvSpPr>
        <p:spPr>
          <a:xfrm>
            <a:off x="4754880" y="2057400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E3D0E60C-8C62-48DF-99D4-1D2B55A41DC1}"/>
              </a:ext>
            </a:extLst>
          </p:cNvPr>
          <p:cNvSpPr/>
          <p:nvPr/>
        </p:nvSpPr>
        <p:spPr>
          <a:xfrm>
            <a:off x="48920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</a:t>
            </a:r>
            <a:endParaRPr lang="en-US" sz="13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6B5717B-EDC9-4F68-BCFF-6990AAADD355}"/>
              </a:ext>
            </a:extLst>
          </p:cNvPr>
          <p:cNvSpPr/>
          <p:nvPr/>
        </p:nvSpPr>
        <p:spPr>
          <a:xfrm>
            <a:off x="4892040" y="249631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30% al cliente (Product Owner)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alcanzados y no alcanzados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al Product Backlog si es necesario</a:t>
            </a:r>
            <a:endParaRPr lang="en-US" sz="10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362661AC-5676-4834-8173-049AC74A46D8}"/>
              </a:ext>
            </a:extLst>
          </p:cNvPr>
          <p:cNvSpPr/>
          <p:nvPr/>
        </p:nvSpPr>
        <p:spPr>
          <a:xfrm>
            <a:off x="4754880" y="347472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948580F-5DB2-4383-82C9-2F59973AD259}"/>
              </a:ext>
            </a:extLst>
          </p:cNvPr>
          <p:cNvSpPr/>
          <p:nvPr/>
        </p:nvSpPr>
        <p:spPr>
          <a:xfrm>
            <a:off x="48920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RETROSPECTIVE</a:t>
            </a:r>
            <a:endParaRPr lang="en-US" sz="13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594AD7D-7003-4389-8214-86D9ACF9E118}"/>
              </a:ext>
            </a:extLst>
          </p:cNvPr>
          <p:cNvSpPr/>
          <p:nvPr/>
        </p:nvSpPr>
        <p:spPr>
          <a:xfrm>
            <a:off x="4892040" y="39136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 hizo bien?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 puede mejorar?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mejora para el próximo sprint</a:t>
            </a:r>
            <a:endParaRPr lang="en-US" sz="10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03792E47-75AC-4C0E-B37D-210163D7A05F}"/>
              </a:ext>
            </a:extLst>
          </p:cNvPr>
          <p:cNvSpPr/>
          <p:nvPr/>
        </p:nvSpPr>
        <p:spPr>
          <a:xfrm>
            <a:off x="4892040" y="48006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AA01D21F-AD08-47A8-A551-C852054C0EA6}"/>
              </a:ext>
            </a:extLst>
          </p:cNvPr>
          <p:cNvSpPr/>
          <p:nvPr/>
        </p:nvSpPr>
        <p:spPr>
          <a:xfrm>
            <a:off x="182880" y="6494127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Master: Felipe Yelpi  ·  Product Owner: Gonzalo Anabalón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97467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anose="020B0604020202020204" pitchFamily="34" charset="0"/>
                <a:ea typeface="Arial" pitchFamily="34" charset="-122"/>
                <a:cs typeface="Helvetica" panose="020B0604020202020204" pitchFamily="34" charset="0"/>
              </a:rPr>
              <a:t>PRUEBAS UNITARIAS – EVIDENCIAS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B75BA3A-FDF8-4BC3-ABC5-EE4B1570292B}"/>
              </a:ext>
            </a:extLst>
          </p:cNvPr>
          <p:cNvGrpSpPr/>
          <p:nvPr/>
        </p:nvGrpSpPr>
        <p:grpSpPr>
          <a:xfrm>
            <a:off x="108721" y="1133856"/>
            <a:ext cx="4280399" cy="5504688"/>
            <a:chOff x="274320" y="1417320"/>
            <a:chExt cx="4114800" cy="347472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B68ED209-0639-4ABF-ABCD-A18C1A39A964}"/>
                </a:ext>
              </a:extLst>
            </p:cNvPr>
            <p:cNvSpPr/>
            <p:nvPr/>
          </p:nvSpPr>
          <p:spPr>
            <a:xfrm>
              <a:off x="274320" y="1417320"/>
              <a:ext cx="4114800" cy="3474720"/>
            </a:xfrm>
            <a:prstGeom prst="roundRect">
              <a:avLst>
                <a:gd name="adj" fmla="val 3158"/>
              </a:avLst>
            </a:prstGeom>
            <a:solidFill>
              <a:srgbClr val="1A2744"/>
            </a:solidFill>
            <a:ln w="12700">
              <a:solidFill>
                <a:srgbClr val="0288D1"/>
              </a:solidFill>
              <a:prstDash val="solid"/>
            </a:ln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AD7A192-0E82-4215-9C63-A274E4FF0671}"/>
                </a:ext>
              </a:extLst>
            </p:cNvPr>
            <p:cNvSpPr/>
            <p:nvPr/>
          </p:nvSpPr>
          <p:spPr>
            <a:xfrm>
              <a:off x="457200" y="150876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88D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ESTRUCTURA DE CADA PRUEBA</a:t>
              </a:r>
              <a:endParaRPr lang="en-US" sz="1100" dirty="0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01187B40-B823-43EA-914A-44B4C2105E76}"/>
                </a:ext>
              </a:extLst>
            </p:cNvPr>
            <p:cNvSpPr/>
            <p:nvPr/>
          </p:nvSpPr>
          <p:spPr>
            <a:xfrm>
              <a:off x="365760" y="1920240"/>
              <a:ext cx="3931920" cy="384048"/>
            </a:xfrm>
            <a:prstGeom prst="rect">
              <a:avLst/>
            </a:prstGeom>
            <a:solidFill>
              <a:srgbClr val="1A2744"/>
            </a:solidFill>
            <a:ln w="3810">
              <a:solidFill>
                <a:srgbClr val="0288D1"/>
              </a:solidFill>
              <a:prstDash val="solid"/>
            </a:ln>
          </p:spPr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8E09DF5D-77E0-4A31-8DA1-F75FCDC12D4E}"/>
                </a:ext>
              </a:extLst>
            </p:cNvPr>
            <p:cNvSpPr/>
            <p:nvPr/>
          </p:nvSpPr>
          <p:spPr>
            <a:xfrm>
              <a:off x="457200" y="1920240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ID Prueba:</a:t>
              </a:r>
              <a:endParaRPr lang="en-US" sz="10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33BEF3B7-82FC-4FF9-8208-8EB41730B45D}"/>
                </a:ext>
              </a:extLst>
            </p:cNvPr>
            <p:cNvSpPr/>
            <p:nvPr/>
          </p:nvSpPr>
          <p:spPr>
            <a:xfrm>
              <a:off x="1920240" y="1920240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PT-XX</a:t>
              </a:r>
              <a:endParaRPr lang="en-US" sz="1000" dirty="0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4420B204-DA54-440E-8C72-479C4C5C3219}"/>
                </a:ext>
              </a:extLst>
            </p:cNvPr>
            <p:cNvSpPr/>
            <p:nvPr/>
          </p:nvSpPr>
          <p:spPr>
            <a:xfrm>
              <a:off x="365760" y="2340864"/>
              <a:ext cx="3931920" cy="384048"/>
            </a:xfrm>
            <a:prstGeom prst="rect">
              <a:avLst/>
            </a:prstGeom>
            <a:solidFill>
              <a:srgbClr val="1F2E4A"/>
            </a:solidFill>
            <a:ln w="3810">
              <a:solidFill>
                <a:srgbClr val="0288D1"/>
              </a:solidFill>
              <a:prstDash val="solid"/>
            </a:ln>
          </p:spPr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3B8C8879-994F-4432-87A3-29E6AB40B3BE}"/>
                </a:ext>
              </a:extLst>
            </p:cNvPr>
            <p:cNvSpPr/>
            <p:nvPr/>
          </p:nvSpPr>
          <p:spPr>
            <a:xfrm>
              <a:off x="457200" y="2340864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 Asociado:</a:t>
              </a:r>
              <a:endParaRPr lang="en-US" sz="10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CB303D3D-BB85-403C-A0C5-0D1FFE342F81}"/>
                </a:ext>
              </a:extLst>
            </p:cNvPr>
            <p:cNvSpPr/>
            <p:nvPr/>
          </p:nvSpPr>
          <p:spPr>
            <a:xfrm>
              <a:off x="1920240" y="2340864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 XX: Nombre</a:t>
              </a:r>
              <a:endParaRPr lang="en-US" sz="1000" dirty="0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BB241822-ACD3-4F33-9815-6E83A5CB37F2}"/>
                </a:ext>
              </a:extLst>
            </p:cNvPr>
            <p:cNvSpPr/>
            <p:nvPr/>
          </p:nvSpPr>
          <p:spPr>
            <a:xfrm>
              <a:off x="365760" y="2761488"/>
              <a:ext cx="3931920" cy="384048"/>
            </a:xfrm>
            <a:prstGeom prst="rect">
              <a:avLst/>
            </a:prstGeom>
            <a:solidFill>
              <a:srgbClr val="1A2744"/>
            </a:solidFill>
            <a:ln w="3810">
              <a:solidFill>
                <a:srgbClr val="0288D1"/>
              </a:solidFill>
              <a:prstDash val="solid"/>
            </a:ln>
          </p:spPr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021B4154-EC9A-4669-92C9-20EEDA11248C}"/>
                </a:ext>
              </a:extLst>
            </p:cNvPr>
            <p:cNvSpPr/>
            <p:nvPr/>
          </p:nvSpPr>
          <p:spPr>
            <a:xfrm>
              <a:off x="457200" y="2761488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Datos de Entrada:</a:t>
              </a:r>
              <a:endParaRPr lang="en-US" sz="1000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8500AD1D-6B9C-4FEB-A267-67DCBE88FB6A}"/>
                </a:ext>
              </a:extLst>
            </p:cNvPr>
            <p:cNvSpPr/>
            <p:nvPr/>
          </p:nvSpPr>
          <p:spPr>
            <a:xfrm>
              <a:off x="1920240" y="2761488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Valores ingresados</a:t>
              </a:r>
              <a:endParaRPr lang="en-US" sz="1000" dirty="0"/>
            </a:p>
          </p:txBody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CC12FAD9-48AB-4617-A56D-898291ADE990}"/>
                </a:ext>
              </a:extLst>
            </p:cNvPr>
            <p:cNvSpPr/>
            <p:nvPr/>
          </p:nvSpPr>
          <p:spPr>
            <a:xfrm>
              <a:off x="365760" y="3182112"/>
              <a:ext cx="3931920" cy="384048"/>
            </a:xfrm>
            <a:prstGeom prst="rect">
              <a:avLst/>
            </a:prstGeom>
            <a:solidFill>
              <a:srgbClr val="1F2E4A"/>
            </a:solidFill>
            <a:ln w="3810">
              <a:solidFill>
                <a:srgbClr val="0288D1"/>
              </a:solidFill>
              <a:prstDash val="solid"/>
            </a:ln>
          </p:spPr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7382E22E-C906-4351-9466-7FAA3295730D}"/>
                </a:ext>
              </a:extLst>
            </p:cNvPr>
            <p:cNvSpPr/>
            <p:nvPr/>
          </p:nvSpPr>
          <p:spPr>
            <a:xfrm>
              <a:off x="457200" y="3182112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Resultado Esperado:</a:t>
              </a:r>
              <a:endParaRPr lang="en-US" sz="1000" dirty="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0F45E756-6323-415F-8901-DBC84614AB3E}"/>
                </a:ext>
              </a:extLst>
            </p:cNvPr>
            <p:cNvSpPr/>
            <p:nvPr/>
          </p:nvSpPr>
          <p:spPr>
            <a:xfrm>
              <a:off x="1920240" y="3182112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Comportamiento esperado</a:t>
              </a:r>
              <a:endParaRPr lang="en-US" sz="1000" dirty="0"/>
            </a:p>
          </p:txBody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B95C8AEE-D3CF-4E7E-9D2D-E376C36E16FD}"/>
                </a:ext>
              </a:extLst>
            </p:cNvPr>
            <p:cNvSpPr/>
            <p:nvPr/>
          </p:nvSpPr>
          <p:spPr>
            <a:xfrm>
              <a:off x="365760" y="3602736"/>
              <a:ext cx="3931920" cy="384048"/>
            </a:xfrm>
            <a:prstGeom prst="rect">
              <a:avLst/>
            </a:prstGeom>
            <a:solidFill>
              <a:srgbClr val="1A2744"/>
            </a:solidFill>
            <a:ln w="3810">
              <a:solidFill>
                <a:srgbClr val="0288D1"/>
              </a:solidFill>
              <a:prstDash val="solid"/>
            </a:ln>
          </p:spPr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8B7560B5-3964-4FBA-ADF3-8A1AD0716847}"/>
                </a:ext>
              </a:extLst>
            </p:cNvPr>
            <p:cNvSpPr/>
            <p:nvPr/>
          </p:nvSpPr>
          <p:spPr>
            <a:xfrm>
              <a:off x="457200" y="3602736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Resultado Obtenido:</a:t>
              </a:r>
              <a:endParaRPr lang="en-US" sz="1000" dirty="0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ADF0663F-9F0C-4C9C-809F-454BD4313D23}"/>
                </a:ext>
              </a:extLst>
            </p:cNvPr>
            <p:cNvSpPr/>
            <p:nvPr/>
          </p:nvSpPr>
          <p:spPr>
            <a:xfrm>
              <a:off x="1920240" y="3602736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Respuesta real del sistema</a:t>
              </a:r>
              <a:endParaRPr lang="en-US" sz="1000" dirty="0"/>
            </a:p>
          </p:txBody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588CB8B9-B655-46E8-A730-FF4CFB0573B1}"/>
                </a:ext>
              </a:extLst>
            </p:cNvPr>
            <p:cNvSpPr/>
            <p:nvPr/>
          </p:nvSpPr>
          <p:spPr>
            <a:xfrm>
              <a:off x="365760" y="4023360"/>
              <a:ext cx="3931920" cy="384048"/>
            </a:xfrm>
            <a:prstGeom prst="rect">
              <a:avLst/>
            </a:prstGeom>
            <a:solidFill>
              <a:srgbClr val="1F2E4A"/>
            </a:solidFill>
            <a:ln w="3810">
              <a:solidFill>
                <a:srgbClr val="0288D1"/>
              </a:solidFill>
              <a:prstDash val="solid"/>
            </a:ln>
          </p:spPr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8F238A91-3693-46C4-9143-CA45A9AC5FE9}"/>
                </a:ext>
              </a:extLst>
            </p:cNvPr>
            <p:cNvSpPr/>
            <p:nvPr/>
          </p:nvSpPr>
          <p:spPr>
            <a:xfrm>
              <a:off x="457200" y="4023360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Estado:</a:t>
              </a:r>
              <a:endParaRPr lang="en-US" sz="1000" dirty="0"/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44862A38-AE77-4EB1-896B-336C588D5037}"/>
                </a:ext>
              </a:extLst>
            </p:cNvPr>
            <p:cNvSpPr/>
            <p:nvPr/>
          </p:nvSpPr>
          <p:spPr>
            <a:xfrm>
              <a:off x="1920240" y="4023360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APROBADA / RECHAZADA</a:t>
              </a:r>
              <a:endParaRPr lang="en-US" sz="1000" dirty="0"/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FA997BF5-468D-43C9-9766-FA71DD22964D}"/>
                </a:ext>
              </a:extLst>
            </p:cNvPr>
            <p:cNvSpPr/>
            <p:nvPr/>
          </p:nvSpPr>
          <p:spPr>
            <a:xfrm>
              <a:off x="365760" y="4443984"/>
              <a:ext cx="3931920" cy="384048"/>
            </a:xfrm>
            <a:prstGeom prst="rect">
              <a:avLst/>
            </a:prstGeom>
            <a:solidFill>
              <a:srgbClr val="1A2744"/>
            </a:solidFill>
            <a:ln w="3810">
              <a:solidFill>
                <a:srgbClr val="0288D1"/>
              </a:solidFill>
              <a:prstDash val="solid"/>
            </a:ln>
          </p:spPr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3903BB75-F3B9-4797-831B-5D930E1C5A22}"/>
                </a:ext>
              </a:extLst>
            </p:cNvPr>
            <p:cNvSpPr/>
            <p:nvPr/>
          </p:nvSpPr>
          <p:spPr>
            <a:xfrm>
              <a:off x="457200" y="4443984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Evidencia:</a:t>
              </a:r>
              <a:endParaRPr lang="en-US" sz="1000" dirty="0"/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998CEC2E-B823-4D23-83F4-2757672E69F3}"/>
                </a:ext>
              </a:extLst>
            </p:cNvPr>
            <p:cNvSpPr/>
            <p:nvPr/>
          </p:nvSpPr>
          <p:spPr>
            <a:xfrm>
              <a:off x="1920240" y="4443984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Captura de pantalla</a:t>
              </a:r>
              <a:endParaRPr lang="en-US" sz="1000" dirty="0"/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531B048D-2C83-4C7F-855C-4B82F75B9BAD}"/>
              </a:ext>
            </a:extLst>
          </p:cNvPr>
          <p:cNvGrpSpPr/>
          <p:nvPr/>
        </p:nvGrpSpPr>
        <p:grpSpPr>
          <a:xfrm>
            <a:off x="4557668" y="1133856"/>
            <a:ext cx="4477610" cy="5504688"/>
            <a:chOff x="4561308" y="1417320"/>
            <a:chExt cx="4206240" cy="3749040"/>
          </a:xfrm>
        </p:grpSpPr>
        <p:sp>
          <p:nvSpPr>
            <p:cNvPr id="52" name="Shape 3">
              <a:extLst>
                <a:ext uri="{FF2B5EF4-FFF2-40B4-BE49-F238E27FC236}">
                  <a16:creationId xmlns:a16="http://schemas.microsoft.com/office/drawing/2014/main" id="{E61218D4-BC1D-40A9-A7CB-564CA5FBC220}"/>
                </a:ext>
              </a:extLst>
            </p:cNvPr>
            <p:cNvSpPr/>
            <p:nvPr/>
          </p:nvSpPr>
          <p:spPr>
            <a:xfrm>
              <a:off x="4617720" y="1417320"/>
              <a:ext cx="4114800" cy="3749040"/>
            </a:xfrm>
            <a:prstGeom prst="roundRect">
              <a:avLst>
                <a:gd name="adj" fmla="val 3158"/>
              </a:avLst>
            </a:prstGeom>
            <a:solidFill>
              <a:srgbClr val="1A2744"/>
            </a:solidFill>
            <a:ln w="12700">
              <a:solidFill>
                <a:srgbClr val="0288D1"/>
              </a:solidFill>
              <a:prstDash val="solid"/>
            </a:ln>
          </p:spPr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2A21FD88-FBA7-4491-AB27-4EA71BFD8DB2}"/>
                </a:ext>
              </a:extLst>
            </p:cNvPr>
            <p:cNvSpPr/>
            <p:nvPr/>
          </p:nvSpPr>
          <p:spPr>
            <a:xfrm>
              <a:off x="4561308" y="1417320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B3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 PRIORITARIOS EN PRUEBAS</a:t>
              </a:r>
              <a:endParaRPr lang="en-US" sz="1100" dirty="0"/>
            </a:p>
          </p:txBody>
        </p: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C7A96252-03C5-40C3-8C28-4B328077C359}"/>
                </a:ext>
              </a:extLst>
            </p:cNvPr>
            <p:cNvGrpSpPr/>
            <p:nvPr/>
          </p:nvGrpSpPr>
          <p:grpSpPr>
            <a:xfrm>
              <a:off x="4663440" y="1828800"/>
              <a:ext cx="3959352" cy="3200400"/>
              <a:chOff x="4663440" y="1828800"/>
              <a:chExt cx="4206240" cy="3200400"/>
            </a:xfrm>
          </p:grpSpPr>
          <p:sp>
            <p:nvSpPr>
              <p:cNvPr id="31" name="Shape 27">
                <a:extLst>
                  <a:ext uri="{FF2B5EF4-FFF2-40B4-BE49-F238E27FC236}">
                    <a16:creationId xmlns:a16="http://schemas.microsoft.com/office/drawing/2014/main" id="{A8FED962-79EB-4315-9EA8-3107C12D6F63}"/>
                  </a:ext>
                </a:extLst>
              </p:cNvPr>
              <p:cNvSpPr/>
              <p:nvPr/>
            </p:nvSpPr>
            <p:spPr>
              <a:xfrm>
                <a:off x="4663440" y="1828800"/>
                <a:ext cx="4206240" cy="566928"/>
              </a:xfrm>
              <a:prstGeom prst="roundRect">
                <a:avLst>
                  <a:gd name="adj" fmla="val 12903"/>
                </a:avLst>
              </a:prstGeom>
              <a:solidFill>
                <a:srgbClr val="1A2744"/>
              </a:solidFill>
              <a:ln w="10160">
                <a:solidFill>
                  <a:srgbClr val="0288D1"/>
                </a:solidFill>
                <a:prstDash val="solid"/>
              </a:ln>
            </p:spPr>
          </p:sp>
          <p:sp>
            <p:nvSpPr>
              <p:cNvPr id="32" name="Text 28">
                <a:extLst>
                  <a:ext uri="{FF2B5EF4-FFF2-40B4-BE49-F238E27FC236}">
                    <a16:creationId xmlns:a16="http://schemas.microsoft.com/office/drawing/2014/main" id="{017CF85A-D801-44D1-A681-E9F884A355FE}"/>
                  </a:ext>
                </a:extLst>
              </p:cNvPr>
              <p:cNvSpPr/>
              <p:nvPr/>
            </p:nvSpPr>
            <p:spPr>
              <a:xfrm>
                <a:off x="4754880" y="1828800"/>
                <a:ext cx="6400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B3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 16</a:t>
                </a:r>
                <a:endParaRPr lang="en-US" sz="1300" dirty="0"/>
              </a:p>
            </p:txBody>
          </p:sp>
          <p:sp>
            <p:nvSpPr>
              <p:cNvPr id="33" name="Text 29">
                <a:extLst>
                  <a:ext uri="{FF2B5EF4-FFF2-40B4-BE49-F238E27FC236}">
                    <a16:creationId xmlns:a16="http://schemas.microsoft.com/office/drawing/2014/main" id="{D28E2D0B-F1AF-4A3B-A545-C975FC08251D}"/>
                  </a:ext>
                </a:extLst>
              </p:cNvPr>
              <p:cNvSpPr/>
              <p:nvPr/>
            </p:nvSpPr>
            <p:spPr>
              <a:xfrm>
                <a:off x="5440680" y="1874520"/>
                <a:ext cx="3291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Carga de evidencias</a:t>
                </a:r>
                <a:endParaRPr lang="en-US" sz="1050" dirty="0"/>
              </a:p>
            </p:txBody>
          </p:sp>
          <p:sp>
            <p:nvSpPr>
              <p:cNvPr id="34" name="Text 30">
                <a:extLst>
                  <a:ext uri="{FF2B5EF4-FFF2-40B4-BE49-F238E27FC236}">
                    <a16:creationId xmlns:a16="http://schemas.microsoft.com/office/drawing/2014/main" id="{224FA7FE-CD24-4A82-B11F-00B701134D2F}"/>
                  </a:ext>
                </a:extLst>
              </p:cNvPr>
              <p:cNvSpPr/>
              <p:nvPr/>
            </p:nvSpPr>
            <p:spPr>
              <a:xfrm>
                <a:off x="5440680" y="2130552"/>
                <a:ext cx="329184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E3F2F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GPS + cámara móvil</a:t>
                </a:r>
                <a:endParaRPr lang="en-US" sz="950" dirty="0"/>
              </a:p>
            </p:txBody>
          </p:sp>
          <p:sp>
            <p:nvSpPr>
              <p:cNvPr id="35" name="Shape 31">
                <a:extLst>
                  <a:ext uri="{FF2B5EF4-FFF2-40B4-BE49-F238E27FC236}">
                    <a16:creationId xmlns:a16="http://schemas.microsoft.com/office/drawing/2014/main" id="{F401C4E5-D376-429A-92F8-ADA89334BF75}"/>
                  </a:ext>
                </a:extLst>
              </p:cNvPr>
              <p:cNvSpPr/>
              <p:nvPr/>
            </p:nvSpPr>
            <p:spPr>
              <a:xfrm>
                <a:off x="4663440" y="2487168"/>
                <a:ext cx="4206240" cy="566928"/>
              </a:xfrm>
              <a:prstGeom prst="roundRect">
                <a:avLst>
                  <a:gd name="adj" fmla="val 12903"/>
                </a:avLst>
              </a:prstGeom>
              <a:solidFill>
                <a:srgbClr val="1A2744"/>
              </a:solidFill>
              <a:ln w="10160">
                <a:solidFill>
                  <a:srgbClr val="0288D1"/>
                </a:solidFill>
                <a:prstDash val="solid"/>
              </a:ln>
            </p:spPr>
          </p:sp>
          <p:sp>
            <p:nvSpPr>
              <p:cNvPr id="36" name="Text 32">
                <a:extLst>
                  <a:ext uri="{FF2B5EF4-FFF2-40B4-BE49-F238E27FC236}">
                    <a16:creationId xmlns:a16="http://schemas.microsoft.com/office/drawing/2014/main" id="{121329AC-6D3D-458D-A0F3-D2717280CC67}"/>
                  </a:ext>
                </a:extLst>
              </p:cNvPr>
              <p:cNvSpPr/>
              <p:nvPr/>
            </p:nvSpPr>
            <p:spPr>
              <a:xfrm>
                <a:off x="4754880" y="2487168"/>
                <a:ext cx="6400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B3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 41</a:t>
                </a:r>
                <a:endParaRPr lang="en-US" sz="1300" dirty="0"/>
              </a:p>
            </p:txBody>
          </p:sp>
          <p:sp>
            <p:nvSpPr>
              <p:cNvPr id="37" name="Text 33">
                <a:extLst>
                  <a:ext uri="{FF2B5EF4-FFF2-40B4-BE49-F238E27FC236}">
                    <a16:creationId xmlns:a16="http://schemas.microsoft.com/office/drawing/2014/main" id="{764DBFDD-5195-4260-BA23-2328116D6304}"/>
                  </a:ext>
                </a:extLst>
              </p:cNvPr>
              <p:cNvSpPr/>
              <p:nvPr/>
            </p:nvSpPr>
            <p:spPr>
              <a:xfrm>
                <a:off x="5440680" y="2532888"/>
                <a:ext cx="3291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Gráfico desviación</a:t>
                </a:r>
                <a:endParaRPr lang="en-US" sz="1050" dirty="0"/>
              </a:p>
            </p:txBody>
          </p:sp>
          <p:sp>
            <p:nvSpPr>
              <p:cNvPr id="38" name="Text 34">
                <a:extLst>
                  <a:ext uri="{FF2B5EF4-FFF2-40B4-BE49-F238E27FC236}">
                    <a16:creationId xmlns:a16="http://schemas.microsoft.com/office/drawing/2014/main" id="{5BFB063A-9B2D-4896-8927-A593331AD45A}"/>
                  </a:ext>
                </a:extLst>
              </p:cNvPr>
              <p:cNvSpPr/>
              <p:nvPr/>
            </p:nvSpPr>
            <p:spPr>
              <a:xfrm>
                <a:off x="5440680" y="2788920"/>
                <a:ext cx="329184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E3F2F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Cálculo financiero</a:t>
                </a:r>
                <a:endParaRPr lang="en-US" sz="950" dirty="0"/>
              </a:p>
            </p:txBody>
          </p:sp>
          <p:sp>
            <p:nvSpPr>
              <p:cNvPr id="39" name="Shape 35">
                <a:extLst>
                  <a:ext uri="{FF2B5EF4-FFF2-40B4-BE49-F238E27FC236}">
                    <a16:creationId xmlns:a16="http://schemas.microsoft.com/office/drawing/2014/main" id="{16E84B27-1540-4C75-AFBA-3F8C80CEB48D}"/>
                  </a:ext>
                </a:extLst>
              </p:cNvPr>
              <p:cNvSpPr/>
              <p:nvPr/>
            </p:nvSpPr>
            <p:spPr>
              <a:xfrm>
                <a:off x="4663440" y="3145536"/>
                <a:ext cx="4206240" cy="566928"/>
              </a:xfrm>
              <a:prstGeom prst="roundRect">
                <a:avLst>
                  <a:gd name="adj" fmla="val 12903"/>
                </a:avLst>
              </a:prstGeom>
              <a:solidFill>
                <a:srgbClr val="1A2744"/>
              </a:solidFill>
              <a:ln w="10160">
                <a:solidFill>
                  <a:srgbClr val="0288D1"/>
                </a:solidFill>
                <a:prstDash val="solid"/>
              </a:ln>
            </p:spPr>
          </p:sp>
          <p:sp>
            <p:nvSpPr>
              <p:cNvPr id="40" name="Text 36">
                <a:extLst>
                  <a:ext uri="{FF2B5EF4-FFF2-40B4-BE49-F238E27FC236}">
                    <a16:creationId xmlns:a16="http://schemas.microsoft.com/office/drawing/2014/main" id="{BF2978C0-39EC-4699-AA1E-45691BDC4984}"/>
                  </a:ext>
                </a:extLst>
              </p:cNvPr>
              <p:cNvSpPr/>
              <p:nvPr/>
            </p:nvSpPr>
            <p:spPr>
              <a:xfrm>
                <a:off x="4754880" y="3145536"/>
                <a:ext cx="6400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B3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 35</a:t>
                </a:r>
                <a:endParaRPr lang="en-US" sz="1300" dirty="0"/>
              </a:p>
            </p:txBody>
          </p:sp>
          <p:sp>
            <p:nvSpPr>
              <p:cNvPr id="41" name="Text 37">
                <a:extLst>
                  <a:ext uri="{FF2B5EF4-FFF2-40B4-BE49-F238E27FC236}">
                    <a16:creationId xmlns:a16="http://schemas.microsoft.com/office/drawing/2014/main" id="{B9CB3A41-FF3D-4AD0-A787-98C17CA743C8}"/>
                  </a:ext>
                </a:extLst>
              </p:cNvPr>
              <p:cNvSpPr/>
              <p:nvPr/>
            </p:nvSpPr>
            <p:spPr>
              <a:xfrm>
                <a:off x="5440680" y="3191256"/>
                <a:ext cx="3291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Orden de Compra auto</a:t>
                </a:r>
                <a:endParaRPr lang="en-US" sz="1050" dirty="0"/>
              </a:p>
            </p:txBody>
          </p:sp>
          <p:sp>
            <p:nvSpPr>
              <p:cNvPr id="42" name="Text 38">
                <a:extLst>
                  <a:ext uri="{FF2B5EF4-FFF2-40B4-BE49-F238E27FC236}">
                    <a16:creationId xmlns:a16="http://schemas.microsoft.com/office/drawing/2014/main" id="{F73D9BE3-17A0-4885-95AA-00328E7EC22D}"/>
                  </a:ext>
                </a:extLst>
              </p:cNvPr>
              <p:cNvSpPr/>
              <p:nvPr/>
            </p:nvSpPr>
            <p:spPr>
              <a:xfrm>
                <a:off x="5440680" y="3447288"/>
                <a:ext cx="329184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E3F2F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Flujo transaccional</a:t>
                </a:r>
                <a:endParaRPr lang="en-US" sz="950" dirty="0"/>
              </a:p>
            </p:txBody>
          </p:sp>
          <p:sp>
            <p:nvSpPr>
              <p:cNvPr id="43" name="Shape 39">
                <a:extLst>
                  <a:ext uri="{FF2B5EF4-FFF2-40B4-BE49-F238E27FC236}">
                    <a16:creationId xmlns:a16="http://schemas.microsoft.com/office/drawing/2014/main" id="{52F07639-ABF6-4155-A2FD-F4FAE3A30726}"/>
                  </a:ext>
                </a:extLst>
              </p:cNvPr>
              <p:cNvSpPr/>
              <p:nvPr/>
            </p:nvSpPr>
            <p:spPr>
              <a:xfrm>
                <a:off x="4663440" y="3803904"/>
                <a:ext cx="4206240" cy="566928"/>
              </a:xfrm>
              <a:prstGeom prst="roundRect">
                <a:avLst>
                  <a:gd name="adj" fmla="val 12903"/>
                </a:avLst>
              </a:prstGeom>
              <a:solidFill>
                <a:srgbClr val="1A2744"/>
              </a:solidFill>
              <a:ln w="10160">
                <a:solidFill>
                  <a:srgbClr val="0288D1"/>
                </a:solidFill>
                <a:prstDash val="solid"/>
              </a:ln>
            </p:spPr>
          </p:sp>
          <p:sp>
            <p:nvSpPr>
              <p:cNvPr id="44" name="Text 40">
                <a:extLst>
                  <a:ext uri="{FF2B5EF4-FFF2-40B4-BE49-F238E27FC236}">
                    <a16:creationId xmlns:a16="http://schemas.microsoft.com/office/drawing/2014/main" id="{B57DF3E7-C6D4-437B-BA3B-B132BE2B4643}"/>
                  </a:ext>
                </a:extLst>
              </p:cNvPr>
              <p:cNvSpPr/>
              <p:nvPr/>
            </p:nvSpPr>
            <p:spPr>
              <a:xfrm>
                <a:off x="4754880" y="3803904"/>
                <a:ext cx="6400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B3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 57</a:t>
                </a:r>
                <a:endParaRPr lang="en-US" sz="1300" dirty="0"/>
              </a:p>
            </p:txBody>
          </p:sp>
          <p:sp>
            <p:nvSpPr>
              <p:cNvPr id="45" name="Text 41">
                <a:extLst>
                  <a:ext uri="{FF2B5EF4-FFF2-40B4-BE49-F238E27FC236}">
                    <a16:creationId xmlns:a16="http://schemas.microsoft.com/office/drawing/2014/main" id="{95FD8B49-CD6E-4AB4-9CAA-545D4259986A}"/>
                  </a:ext>
                </a:extLst>
              </p:cNvPr>
              <p:cNvSpPr/>
              <p:nvPr/>
            </p:nvSpPr>
            <p:spPr>
              <a:xfrm>
                <a:off x="5440680" y="3849624"/>
                <a:ext cx="3291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Incidentes SSO</a:t>
                </a:r>
                <a:endParaRPr lang="en-US" sz="1050" dirty="0"/>
              </a:p>
            </p:txBody>
          </p:sp>
          <p:sp>
            <p:nvSpPr>
              <p:cNvPr id="46" name="Text 42">
                <a:extLst>
                  <a:ext uri="{FF2B5EF4-FFF2-40B4-BE49-F238E27FC236}">
                    <a16:creationId xmlns:a16="http://schemas.microsoft.com/office/drawing/2014/main" id="{01A0322B-B37F-496C-9A19-7A938A677DCC}"/>
                  </a:ext>
                </a:extLst>
              </p:cNvPr>
              <p:cNvSpPr/>
              <p:nvPr/>
            </p:nvSpPr>
            <p:spPr>
              <a:xfrm>
                <a:off x="5440680" y="4105656"/>
                <a:ext cx="329184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E3F2F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Seguridad ocupacional</a:t>
                </a:r>
                <a:endParaRPr lang="en-US" sz="950" dirty="0"/>
              </a:p>
            </p:txBody>
          </p:sp>
          <p:sp>
            <p:nvSpPr>
              <p:cNvPr id="47" name="Shape 43">
                <a:extLst>
                  <a:ext uri="{FF2B5EF4-FFF2-40B4-BE49-F238E27FC236}">
                    <a16:creationId xmlns:a16="http://schemas.microsoft.com/office/drawing/2014/main" id="{A550F24B-6FD6-4E17-8067-98437BE21E95}"/>
                  </a:ext>
                </a:extLst>
              </p:cNvPr>
              <p:cNvSpPr/>
              <p:nvPr/>
            </p:nvSpPr>
            <p:spPr>
              <a:xfrm>
                <a:off x="4663440" y="4462272"/>
                <a:ext cx="4206240" cy="566928"/>
              </a:xfrm>
              <a:prstGeom prst="roundRect">
                <a:avLst>
                  <a:gd name="adj" fmla="val 12903"/>
                </a:avLst>
              </a:prstGeom>
              <a:solidFill>
                <a:srgbClr val="1A2744"/>
              </a:solidFill>
              <a:ln w="10160">
                <a:solidFill>
                  <a:srgbClr val="0288D1"/>
                </a:solidFill>
                <a:prstDash val="solid"/>
              </a:ln>
            </p:spPr>
          </p:sp>
          <p:sp>
            <p:nvSpPr>
              <p:cNvPr id="48" name="Text 44">
                <a:extLst>
                  <a:ext uri="{FF2B5EF4-FFF2-40B4-BE49-F238E27FC236}">
                    <a16:creationId xmlns:a16="http://schemas.microsoft.com/office/drawing/2014/main" id="{DF884B3A-8387-42C9-9554-0A731DBBA43B}"/>
                  </a:ext>
                </a:extLst>
              </p:cNvPr>
              <p:cNvSpPr/>
              <p:nvPr/>
            </p:nvSpPr>
            <p:spPr>
              <a:xfrm>
                <a:off x="4754880" y="4462272"/>
                <a:ext cx="6400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B3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 54</a:t>
                </a:r>
                <a:endParaRPr lang="en-US" sz="1300" dirty="0"/>
              </a:p>
            </p:txBody>
          </p:sp>
          <p:sp>
            <p:nvSpPr>
              <p:cNvPr id="49" name="Text 45">
                <a:extLst>
                  <a:ext uri="{FF2B5EF4-FFF2-40B4-BE49-F238E27FC236}">
                    <a16:creationId xmlns:a16="http://schemas.microsoft.com/office/drawing/2014/main" id="{FCFE1108-7704-4E83-833B-0B22779B714D}"/>
                  </a:ext>
                </a:extLst>
              </p:cNvPr>
              <p:cNvSpPr/>
              <p:nvPr/>
            </p:nvSpPr>
            <p:spPr>
              <a:xfrm>
                <a:off x="5440680" y="4507992"/>
                <a:ext cx="3291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Control cambios ppto.</a:t>
                </a:r>
                <a:endParaRPr lang="en-US" sz="1050" dirty="0"/>
              </a:p>
            </p:txBody>
          </p:sp>
          <p:sp>
            <p:nvSpPr>
              <p:cNvPr id="50" name="Text 46">
                <a:extLst>
                  <a:ext uri="{FF2B5EF4-FFF2-40B4-BE49-F238E27FC236}">
                    <a16:creationId xmlns:a16="http://schemas.microsoft.com/office/drawing/2014/main" id="{7E44080F-43CC-444B-B4C5-12923712676D}"/>
                  </a:ext>
                </a:extLst>
              </p:cNvPr>
              <p:cNvSpPr/>
              <p:nvPr/>
            </p:nvSpPr>
            <p:spPr>
              <a:xfrm>
                <a:off x="5440680" y="4764024"/>
                <a:ext cx="329184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E3F2F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Trazabilidad log</a:t>
                </a:r>
                <a:endParaRPr lang="en-US" sz="9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0753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D728D348-EC18-4DE9-A804-00025A5E386A}"/>
              </a:ext>
            </a:extLst>
          </p:cNvPr>
          <p:cNvSpPr/>
          <p:nvPr/>
        </p:nvSpPr>
        <p:spPr>
          <a:xfrm>
            <a:off x="365760" y="1463040"/>
            <a:ext cx="8412480" cy="3200400"/>
          </a:xfrm>
          <a:prstGeom prst="roundRect">
            <a:avLst>
              <a:gd name="adj" fmla="val 4286"/>
            </a:avLst>
          </a:prstGeom>
          <a:solidFill>
            <a:srgbClr val="1A2744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42419B2-3BA8-4AC9-A190-8B890CACA85A}"/>
              </a:ext>
            </a:extLst>
          </p:cNvPr>
          <p:cNvSpPr/>
          <p:nvPr/>
        </p:nvSpPr>
        <p:spPr>
          <a:xfrm>
            <a:off x="365760" y="21945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36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FA983BB-8B68-4E61-8C0E-8A80B235E530}"/>
              </a:ext>
            </a:extLst>
          </p:cNvPr>
          <p:cNvSpPr/>
          <p:nvPr/>
        </p:nvSpPr>
        <p:spPr>
          <a:xfrm>
            <a:off x="365759" y="268744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>
                <a:solidFill>
                  <a:srgbClr val="E3F2FD"/>
                </a:solidFill>
                <a:latin typeface="Arial" pitchFamily="34" charset="0"/>
                <a:cs typeface="Arial" pitchFamily="34" charset="-120"/>
              </a:rPr>
              <a:t>Demostración</a:t>
            </a:r>
            <a:r>
              <a:rPr lang="en-US" sz="1400" dirty="0">
                <a:solidFill>
                  <a:srgbClr val="E3F2FD"/>
                </a:solidFill>
                <a:latin typeface="Arial" pitchFamily="34" charset="0"/>
                <a:cs typeface="Arial" pitchFamily="34" charset="-120"/>
              </a:rPr>
              <a:t> del Sistema ERP (30% </a:t>
            </a:r>
            <a:r>
              <a:rPr lang="en-US" sz="1400" dirty="0" err="1">
                <a:solidFill>
                  <a:srgbClr val="E3F2FD"/>
                </a:solidFill>
                <a:latin typeface="Arial" pitchFamily="34" charset="0"/>
                <a:cs typeface="Arial" pitchFamily="34" charset="-120"/>
              </a:rPr>
              <a:t>Completado</a:t>
            </a:r>
            <a:r>
              <a:rPr lang="en-US" sz="1400" dirty="0">
                <a:solidFill>
                  <a:srgbClr val="E3F2FD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A49C916-6DF4-499F-A9CC-EF90F52788ED}"/>
              </a:ext>
            </a:extLst>
          </p:cNvPr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D4E4739-DDB4-44D0-B9D1-D40A21A28C18}"/>
              </a:ext>
            </a:extLst>
          </p:cNvPr>
          <p:cNvSpPr/>
          <p:nvPr/>
        </p:nvSpPr>
        <p:spPr>
          <a:xfrm>
            <a:off x="365760" y="48006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016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21A8BE4-AB2B-427D-9D2C-F90140F76699}"/>
              </a:ext>
            </a:extLst>
          </p:cNvPr>
          <p:cNvSpPr/>
          <p:nvPr/>
        </p:nvSpPr>
        <p:spPr>
          <a:xfrm>
            <a:off x="365760" y="4846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React.js  ·  Node.js + Express  ·  MySQL  ·  GitHub</a:t>
            </a:r>
            <a:endParaRPr lang="en-US" sz="11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91BC1E-291D-4C80-B9AC-42472DD1C328}"/>
              </a:ext>
            </a:extLst>
          </p:cNvPr>
          <p:cNvSpPr txBox="1"/>
          <p:nvPr/>
        </p:nvSpPr>
        <p:spPr>
          <a:xfrm>
            <a:off x="365760" y="4238685"/>
            <a:ext cx="841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i="1" dirty="0">
                <a:solidFill>
                  <a:schemeClr val="bg1"/>
                </a:solidFill>
              </a:rPr>
              <a:t>Proyecto ATI </a:t>
            </a:r>
            <a:r>
              <a:rPr lang="es-MX" sz="1400" i="1" dirty="0" err="1">
                <a:solidFill>
                  <a:schemeClr val="bg1"/>
                </a:solidFill>
              </a:rPr>
              <a:t>Termic</a:t>
            </a:r>
            <a:r>
              <a:rPr lang="es-MX" sz="1400" i="1" dirty="0">
                <a:solidFill>
                  <a:schemeClr val="bg1"/>
                </a:solidFill>
              </a:rPr>
              <a:t> SPA Climatización Industrial | Incremento I | Grupo 5</a:t>
            </a:r>
          </a:p>
          <a:p>
            <a:endParaRPr lang="es-CL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F3550F8-0A56-4C63-B0DE-6EBC8CD7CCC5}"/>
              </a:ext>
            </a:extLst>
          </p:cNvPr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anose="020B0604020202020204" pitchFamily="34" charset="0"/>
                <a:ea typeface="Arial" pitchFamily="34" charset="-122"/>
                <a:cs typeface="Helvetica" panose="020B0604020202020204" pitchFamily="34" charset="0"/>
              </a:rPr>
              <a:t>DEMO DEL SISTEMA – 30% IMPLEMENTADO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821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119CF11-F1A4-4CE3-BDF6-0011DAC6D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029969"/>
            <a:ext cx="1371600" cy="13716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E0A8777-F2CF-4EA7-9B97-A5C3CF09D0AE}"/>
              </a:ext>
            </a:extLst>
          </p:cNvPr>
          <p:cNvSpPr/>
          <p:nvPr/>
        </p:nvSpPr>
        <p:spPr>
          <a:xfrm>
            <a:off x="446051" y="358502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INCREMENTO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FE444FC-F56B-4142-B50D-CB96BAF09FFB}"/>
              </a:ext>
            </a:extLst>
          </p:cNvPr>
          <p:cNvSpPr/>
          <p:nvPr/>
        </p:nvSpPr>
        <p:spPr>
          <a:xfrm>
            <a:off x="457200" y="406322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30% COMPLETADO</a:t>
            </a:r>
            <a:endParaRPr lang="en-US" sz="4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A1E3A0B-EF30-46EF-A0A4-A64FB57C9A1A}"/>
              </a:ext>
            </a:extLst>
          </p:cNvPr>
          <p:cNvSpPr/>
          <p:nvPr/>
        </p:nvSpPr>
        <p:spPr>
          <a:xfrm>
            <a:off x="446051" y="4770023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17 Casos de Uso  ·  138 HH  ·  4 Módulos  ·  Sistema ERP ATI Termic SpA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361916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E636E5ADFFDD4593589394D25615CE" ma:contentTypeVersion="11" ma:contentTypeDescription="Crear nuevo documento." ma:contentTypeScope="" ma:versionID="c9d6f11e93cbbae055e64b4141ef6ad7">
  <xsd:schema xmlns:xsd="http://www.w3.org/2001/XMLSchema" xmlns:xs="http://www.w3.org/2001/XMLSchema" xmlns:p="http://schemas.microsoft.com/office/2006/metadata/properties" xmlns:ns2="adf9ee4f-d874-4566-a6bd-f47c69edf255" targetNamespace="http://schemas.microsoft.com/office/2006/metadata/properties" ma:root="true" ma:fieldsID="8452246f49e401657b72a401ee0d06fa" ns2:_="">
    <xsd:import namespace="adf9ee4f-d874-4566-a6bd-f47c69edf2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9ee4f-d874-4566-a6bd-f47c69edf2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74F943-B1C6-4327-A0CA-911E75BEC1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f9ee4f-d874-4566-a6bd-f47c69edf2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723C2D-0E6B-4CC9-9837-98C32BD8AB0C}">
  <ds:schemaRefs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df9ee4f-d874-4566-a6bd-f47c69edf255"/>
  </ds:schemaRefs>
</ds:datastoreItem>
</file>

<file path=customXml/itemProps3.xml><?xml version="1.0" encoding="utf-8"?>
<ds:datastoreItem xmlns:ds="http://schemas.openxmlformats.org/officeDocument/2006/customXml" ds:itemID="{F9838043-3F32-429D-9CE1-832CB673F6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2345</TotalTime>
  <Words>940</Words>
  <Application>Microsoft Office PowerPoint</Application>
  <PresentationFormat>Carta (216 x 279 mm)</PresentationFormat>
  <Paragraphs>223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Helvetica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ARANCIBIA ARANIS ALEX M</cp:lastModifiedBy>
  <cp:revision>222</cp:revision>
  <dcterms:created xsi:type="dcterms:W3CDTF">2018-06-26T20:44:09Z</dcterms:created>
  <dcterms:modified xsi:type="dcterms:W3CDTF">2026-06-09T20:50:49Z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0x01010023E636E5ADFFDD4593589394D25615CE</vt:lpwstr>
  </property>
</Properties>
</file>