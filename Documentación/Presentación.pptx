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embeddedFontLst>
    <p:embeddedFont>
      <p:font typeface="Helvetica Neue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Wd28eLVHkUVWdK1nq28WBvcVQw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HelveticaNeue-bold.fntdata"/><Relationship Id="rId11" Type="http://schemas.openxmlformats.org/officeDocument/2006/relationships/slide" Target="slides/slide6.xml"/><Relationship Id="rId22" Type="http://schemas.openxmlformats.org/officeDocument/2006/relationships/font" Target="fonts/HelveticaNeue-boldItalic.fntdata"/><Relationship Id="rId10" Type="http://schemas.openxmlformats.org/officeDocument/2006/relationships/slide" Target="slides/slide5.xml"/><Relationship Id="rId21" Type="http://schemas.openxmlformats.org/officeDocument/2006/relationships/font" Target="fonts/HelveticaNeue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Relationship Id="rId4" Type="http://schemas.openxmlformats.org/officeDocument/2006/relationships/image" Target="../media/image2.jp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0.png"/><Relationship Id="rId13" Type="http://schemas.openxmlformats.org/officeDocument/2006/relationships/image" Target="../media/image14.png"/><Relationship Id="rId1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9" Type="http://schemas.openxmlformats.org/officeDocument/2006/relationships/image" Target="../media/image3.png"/><Relationship Id="rId5" Type="http://schemas.openxmlformats.org/officeDocument/2006/relationships/image" Target="../media/image21.png"/><Relationship Id="rId6" Type="http://schemas.openxmlformats.org/officeDocument/2006/relationships/image" Target="../media/image7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7.png"/><Relationship Id="rId7" Type="http://schemas.openxmlformats.org/officeDocument/2006/relationships/image" Target="../media/image26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2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18.png"/><Relationship Id="rId6" Type="http://schemas.openxmlformats.org/officeDocument/2006/relationships/image" Target="../media/image14.png"/><Relationship Id="rId7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2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2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23.png"/><Relationship Id="rId6" Type="http://schemas.openxmlformats.org/officeDocument/2006/relationships/image" Target="../media/image5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4.png"/><Relationship Id="rId5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Google Shape;88;p1"/>
          <p:cNvCxnSpPr/>
          <p:nvPr/>
        </p:nvCxnSpPr>
        <p:spPr>
          <a:xfrm>
            <a:off x="492141" y="3591697"/>
            <a:ext cx="7778648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9" name="Google Shape;89;p1"/>
          <p:cNvCxnSpPr/>
          <p:nvPr/>
        </p:nvCxnSpPr>
        <p:spPr>
          <a:xfrm flipH="1">
            <a:off x="2186081" y="2158313"/>
            <a:ext cx="1" cy="1273156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0" name="Google Shape;90;p1"/>
          <p:cNvSpPr txBox="1"/>
          <p:nvPr/>
        </p:nvSpPr>
        <p:spPr>
          <a:xfrm>
            <a:off x="1960898" y="2237908"/>
            <a:ext cx="628752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Ingeniería de Software I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439206" y="3642221"/>
            <a:ext cx="5189568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Gonzalo Anabalón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Alex Arancibia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Pablo Martínez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Oregón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Martín Sáez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Benjamín Velásquez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 Felipe Yelpi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8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Char char="-"/>
            </a:pPr>
            <a:r>
              <a:rPr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4">
            <a:alphaModFix/>
          </a:blip>
          <a:srcRect b="24764" l="0" r="0" t="25505"/>
          <a:stretch/>
        </p:blipFill>
        <p:spPr>
          <a:xfrm>
            <a:off x="0" y="0"/>
            <a:ext cx="9158013" cy="1435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4">
            <a:alphaModFix/>
          </a:blip>
          <a:srcRect b="5990" l="-153" r="153" t="46510"/>
          <a:stretch/>
        </p:blipFill>
        <p:spPr>
          <a:xfrm>
            <a:off x="-14013" y="5477590"/>
            <a:ext cx="9172026" cy="1371281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92141" y="5858386"/>
            <a:ext cx="106952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09/06/2026</a:t>
            </a:r>
            <a:endParaRPr/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6349" y="2158313"/>
            <a:ext cx="1279083" cy="118959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346841" y="181829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763772" y="2836642"/>
            <a:ext cx="468177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Proyecto ATI Termic SPA Climatización Industrial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30% del sistema ERP | Incremento I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472023" y="5139036"/>
            <a:ext cx="368599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Paulo Quinsacara Jofré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 txBox="1"/>
          <p:nvPr/>
        </p:nvSpPr>
        <p:spPr>
          <a:xfrm>
            <a:off x="108721" y="133062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Contenido de la presentación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93192" y="11978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" y="1353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/>
          <p:nvPr/>
        </p:nvSpPr>
        <p:spPr>
          <a:xfrm>
            <a:off x="960120" y="12893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399032" y="12893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Propuesta de Solución e Incremento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93192" y="21122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3035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/>
          <p:nvPr/>
        </p:nvSpPr>
        <p:spPr>
          <a:xfrm>
            <a:off x="960120" y="22037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1399032" y="22037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Product Backlog – Pila del Producto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393192" y="30266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0352" y="31821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/>
          <p:nvPr/>
        </p:nvSpPr>
        <p:spPr>
          <a:xfrm>
            <a:off x="960120" y="31181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399032" y="31181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Sprint Backlog – Casos de Uso Destacados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393192" y="39410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0" name="Google Shape;120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30352" y="40965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"/>
          <p:cNvSpPr/>
          <p:nvPr/>
        </p:nvSpPr>
        <p:spPr>
          <a:xfrm>
            <a:off x="960120" y="40325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399032" y="40325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Vistas 4+1 – Arquitectura del Sistema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4782312" y="11978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19472" y="13533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"/>
          <p:cNvSpPr/>
          <p:nvPr/>
        </p:nvSpPr>
        <p:spPr>
          <a:xfrm>
            <a:off x="5349240" y="12893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5788152" y="12893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Daily Scrum – Gestión del Sprint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782312" y="21122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919472" y="22677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"/>
          <p:cNvSpPr/>
          <p:nvPr/>
        </p:nvSpPr>
        <p:spPr>
          <a:xfrm>
            <a:off x="5349240" y="22037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788152" y="22037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Sprint Review y Retrospectiva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4782312" y="30266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919472" y="31821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/>
          <p:nvPr/>
        </p:nvSpPr>
        <p:spPr>
          <a:xfrm>
            <a:off x="5349240" y="31181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5788152" y="31181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Pruebas Unitarias y Evidencias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4782312" y="3941064"/>
            <a:ext cx="4114800" cy="713232"/>
          </a:xfrm>
          <a:prstGeom prst="roundRect">
            <a:avLst>
              <a:gd fmla="val 10256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6" name="Google Shape;136;p2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919472" y="409651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"/>
          <p:cNvSpPr/>
          <p:nvPr/>
        </p:nvSpPr>
        <p:spPr>
          <a:xfrm>
            <a:off x="5349240" y="4032504"/>
            <a:ext cx="411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2200"/>
              <a:buFont typeface="Arial"/>
              <a:buNone/>
            </a:pPr>
            <a:r>
              <a:rPr b="1" lang="en-US" sz="22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5788152" y="4032504"/>
            <a:ext cx="29260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Demo del Sistema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2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2251266" y="4946905"/>
            <a:ext cx="4641468" cy="1638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"/>
          <p:cNvSpPr txBox="1"/>
          <p:nvPr/>
        </p:nvSpPr>
        <p:spPr>
          <a:xfrm>
            <a:off x="108722" y="137851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Propuesta de solución e incremento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-28026" y="1376393"/>
            <a:ext cx="917202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ERP web para ATI Termic SpA — Centraliza gestión de obras, compras, RRHH, finanzas y documentación. Stack: React.js + Node.js + Express + MySQL + JWT.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p3"/>
          <p:cNvGrpSpPr/>
          <p:nvPr/>
        </p:nvGrpSpPr>
        <p:grpSpPr>
          <a:xfrm>
            <a:off x="108722" y="2468880"/>
            <a:ext cx="8926556" cy="2834640"/>
            <a:chOff x="274320" y="2468880"/>
            <a:chExt cx="8595360" cy="2834640"/>
          </a:xfrm>
        </p:grpSpPr>
        <p:sp>
          <p:nvSpPr>
            <p:cNvPr id="150" name="Google Shape;150;p3"/>
            <p:cNvSpPr/>
            <p:nvPr/>
          </p:nvSpPr>
          <p:spPr>
            <a:xfrm>
              <a:off x="27432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FFB300"/>
            </a:solidFill>
            <a:ln cap="flat" cmpd="sng" w="12700">
              <a:solidFill>
                <a:srgbClr val="FFB3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74320" y="262890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INC 1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274320" y="304038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30%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365760" y="368046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Seguridad, Obras,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Compras, Finanzas,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Documentación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274320" y="477774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Junio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246888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246888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2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246888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70%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256032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RRHH, Catálogo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SKU, Solicitudes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Materiales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246888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Agosto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66344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66344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3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466344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95%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475488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Finanzas Gerencial,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Mano de Obra,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Portafolio Web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466344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Oct.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6858000" y="2468880"/>
              <a:ext cx="2011680" cy="2834640"/>
            </a:xfrm>
            <a:prstGeom prst="roundRect">
              <a:avLst>
                <a:gd fmla="val 5455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6858000" y="2560320"/>
              <a:ext cx="2011680" cy="4114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400"/>
                <a:buFont typeface="Arial"/>
                <a:buNone/>
              </a:pPr>
              <a:r>
                <a:rPr b="1" lang="en-US" sz="14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INC 4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6858000" y="2971800"/>
              <a:ext cx="2011680" cy="594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3000"/>
                <a:buFont typeface="Arial"/>
                <a:buNone/>
              </a:pPr>
              <a:r>
                <a:rPr b="1" lang="en-US" sz="3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100%</a:t>
              </a:r>
              <a:endParaRPr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6949440" y="3611880"/>
              <a:ext cx="1828800" cy="1005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Cierre Técnico,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Certificados,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Producción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6858000" y="4709160"/>
              <a:ext cx="201168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i="1"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Nov. 2026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3"/>
            <p:cNvSpPr/>
            <p:nvPr/>
          </p:nvSpPr>
          <p:spPr>
            <a:xfrm>
              <a:off x="274320" y="4503420"/>
              <a:ext cx="20116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D1B2A"/>
                </a:buClr>
                <a:buSzPts val="900"/>
                <a:buFont typeface="Arial"/>
                <a:buNone/>
              </a:pPr>
              <a:r>
                <a:rPr b="1" lang="en-US" sz="900">
                  <a:solidFill>
                    <a:srgbClr val="0D1B2A"/>
                  </a:solidFill>
                  <a:latin typeface="Arial"/>
                  <a:ea typeface="Arial"/>
                  <a:cs typeface="Arial"/>
                  <a:sym typeface="Arial"/>
                </a:rPr>
                <a:t>◄ ACTUAL</a:t>
              </a:r>
              <a:endParaRPr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4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Product backlog – pila de producto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386632" y="1478324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792" y="1549157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/>
          <p:nvPr/>
        </p:nvSpPr>
        <p:spPr>
          <a:xfrm>
            <a:off x="773210" y="1681454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430310" y="2072685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/>
          <p:nvPr/>
        </p:nvSpPr>
        <p:spPr>
          <a:xfrm>
            <a:off x="2556290" y="1506723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4" name="Google Shape;18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54888" y="1555996"/>
            <a:ext cx="366578" cy="36657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/>
          <p:nvPr/>
        </p:nvSpPr>
        <p:spPr>
          <a:xfrm>
            <a:off x="2899190" y="1693823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138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2583836" y="2077098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Estimadas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47259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99560" y="1609105"/>
            <a:ext cx="378212" cy="37821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4"/>
          <p:cNvSpPr/>
          <p:nvPr/>
        </p:nvSpPr>
        <p:spPr>
          <a:xfrm>
            <a:off x="5217251" y="1738862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4819430" y="2113251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Avance Total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6915448" y="1518890"/>
            <a:ext cx="1920240" cy="1386723"/>
          </a:xfrm>
          <a:prstGeom prst="roundRect">
            <a:avLst>
              <a:gd fmla="val 7692" name="adj"/>
            </a:avLst>
          </a:prstGeom>
          <a:solidFill>
            <a:srgbClr val="1565C0"/>
          </a:solidFill>
          <a:ln>
            <a:noFill/>
          </a:ln>
          <a:effectLst>
            <a:outerShdw blurRad="76200" rotWithShape="0" algn="bl" dir="2700000" dist="25400">
              <a:srgbClr val="000000">
                <a:alpha val="1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46396" y="1573563"/>
            <a:ext cx="385663" cy="38566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"/>
          <p:cNvSpPr/>
          <p:nvPr/>
        </p:nvSpPr>
        <p:spPr>
          <a:xfrm>
            <a:off x="7258348" y="1686607"/>
            <a:ext cx="1234440" cy="64002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3000"/>
              <a:buFont typeface="Arial"/>
              <a:buNone/>
            </a:pPr>
            <a:r>
              <a:rPr b="1" lang="en-US" sz="30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6942994" y="2081762"/>
            <a:ext cx="1920240" cy="4800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Actores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508440" y="3445521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Categoría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3297360" y="3445521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Casos de Uso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4"/>
          <p:cNvSpPr/>
          <p:nvPr/>
        </p:nvSpPr>
        <p:spPr>
          <a:xfrm>
            <a:off x="626916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Prioridad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7503600" y="3445521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 Est.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08440" y="3792993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"/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508440" y="3792993"/>
            <a:ext cx="73152" cy="457200"/>
          </a:xfrm>
          <a:prstGeom prst="rect">
            <a:avLst/>
          </a:prstGeom>
          <a:solidFill>
            <a:srgbClr val="1565C0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"/>
          <p:cNvSpPr/>
          <p:nvPr/>
        </p:nvSpPr>
        <p:spPr>
          <a:xfrm>
            <a:off x="645600" y="379299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Gestión de Obra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3297360" y="379299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14, 15, 16, 17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/>
          <p:nvPr/>
        </p:nvSpPr>
        <p:spPr>
          <a:xfrm>
            <a:off x="6269160" y="379299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7503600" y="379299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32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508440" y="4295913"/>
            <a:ext cx="274320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4"/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4"/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508440" y="4295913"/>
            <a:ext cx="73152" cy="45720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645600" y="429591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Compras y Finanzas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3297360" y="429591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35, 37, 39, 41, 42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6269160" y="429591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7503600" y="429591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48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508440" y="4798833"/>
            <a:ext cx="274320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508440" y="4798833"/>
            <a:ext cx="73152" cy="457200"/>
          </a:xfrm>
          <a:prstGeom prst="rect">
            <a:avLst/>
          </a:prstGeom>
          <a:solidFill>
            <a:srgbClr val="0277BD"/>
          </a:solidFill>
          <a:ln cap="flat" cmpd="sng" w="12700">
            <a:solidFill>
              <a:srgbClr val="0277B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4"/>
          <p:cNvSpPr/>
          <p:nvPr/>
        </p:nvSpPr>
        <p:spPr>
          <a:xfrm>
            <a:off x="645600" y="479883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Gestión Documental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3297360" y="479883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44, 45, 47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6269160" y="479883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7503600" y="479883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20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508440" y="5301753"/>
            <a:ext cx="274320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"/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"/>
          <p:cNvSpPr/>
          <p:nvPr/>
        </p:nvSpPr>
        <p:spPr>
          <a:xfrm>
            <a:off x="508440" y="5301753"/>
            <a:ext cx="73152" cy="457200"/>
          </a:xfrm>
          <a:prstGeom prst="rect">
            <a:avLst/>
          </a:prstGeom>
          <a:solidFill>
            <a:srgbClr val="006064"/>
          </a:solidFill>
          <a:ln cap="flat" cmpd="sng" w="12700">
            <a:solidFill>
              <a:srgbClr val="0060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4"/>
          <p:cNvSpPr/>
          <p:nvPr/>
        </p:nvSpPr>
        <p:spPr>
          <a:xfrm>
            <a:off x="645600" y="5301753"/>
            <a:ext cx="2606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Control Ppto. y Riesgos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3297360" y="5301753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CU 54, 55, 56, 57, 58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6269160" y="530175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7503600" y="5301753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38 HH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5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5"/>
          <p:cNvSpPr txBox="1"/>
          <p:nvPr/>
        </p:nvSpPr>
        <p:spPr>
          <a:xfrm>
            <a:off x="108721" y="122611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16: Cargando Evidencias Fotográficas de Avance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274320" y="1143000"/>
            <a:ext cx="3931920" cy="731520"/>
          </a:xfrm>
          <a:prstGeom prst="roundRect">
            <a:avLst>
              <a:gd fmla="val 12500" name="adj"/>
            </a:avLst>
          </a:prstGeom>
          <a:solidFill>
            <a:srgbClr val="1A2744"/>
          </a:solidFill>
          <a:ln cap="flat" cmpd="sng" w="19050">
            <a:solidFill>
              <a:srgbClr val="FFB3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8" name="Google Shape;24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" y="1261872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5"/>
          <p:cNvSpPr/>
          <p:nvPr/>
        </p:nvSpPr>
        <p:spPr>
          <a:xfrm>
            <a:off x="1005840" y="1188720"/>
            <a:ext cx="3017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1005840" y="1508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GPS + cámara móvil + compresión automática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274320" y="201168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4389120" y="1143000"/>
            <a:ext cx="4480560" cy="1161288"/>
          </a:xfrm>
          <a:prstGeom prst="roundRect">
            <a:avLst>
              <a:gd fmla="val 6250" name="adj"/>
            </a:avLst>
          </a:prstGeom>
          <a:solidFill>
            <a:srgbClr val="1A2744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4526280" y="12070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4526280" y="1347677"/>
            <a:ext cx="42062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Supervisor de Obra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UR-F-15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Web Geolocation API + Multer + React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Diaria — durante jornadas de terreno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4389120" y="2444957"/>
            <a:ext cx="4480560" cy="1280160"/>
          </a:xfrm>
          <a:prstGeom prst="roundRect">
            <a:avLst>
              <a:gd fmla="val 7143" name="adj"/>
            </a:avLst>
          </a:prstGeom>
          <a:solidFill>
            <a:srgbClr val="1A2744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6" name="Google Shape;25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80" y="2518109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5"/>
          <p:cNvSpPr/>
          <p:nvPr/>
        </p:nvSpPr>
        <p:spPr>
          <a:xfrm>
            <a:off x="4937760" y="2518109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3935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E53935"/>
                </a:solidFill>
                <a:latin typeface="Arial"/>
                <a:ea typeface="Arial"/>
                <a:cs typeface="Arial"/>
                <a:sym typeface="Arial"/>
              </a:rPr>
              <a:t>EXCEPCIONES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4526280" y="2902157"/>
            <a:ext cx="4206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Permiso denegado: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Sistema informa y sugiere habilitar permisos en el dispositivo.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Fallo de carga: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Sistema guarda la foto en cola para cuando haya señal.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4389120" y="3865786"/>
            <a:ext cx="4480560" cy="777240"/>
          </a:xfrm>
          <a:prstGeom prst="roundRect">
            <a:avLst>
              <a:gd fmla="val 11765" name="adj"/>
            </a:avLst>
          </a:prstGeom>
          <a:solidFill>
            <a:srgbClr val="1B5E20">
              <a:alpha val="90196"/>
            </a:srgbClr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4526280" y="3938938"/>
            <a:ext cx="42062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POSTCONDICIÓN: Imágenes almacenadas en la galería del proyecto vinculadas al reporte, con geolocalización y timestamp verificados.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1" name="Google Shape;26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5"/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accede a “Carga de evidencia” en Proyecto ativo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5"/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Sistema solicita permisos de cámara al dispositivo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5"/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Actor captura fotográfía desde la interfaz móvil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5"/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Sistema muestra vista previa para confirmación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5"/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Sistema comprime imagen y la almacena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"/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Sistema asocial fotos a coordenadas GPS y fecha actual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5"/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7. Confirmación: “Evidencia cargada con éxito”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937760" y="4733050"/>
            <a:ext cx="3600184" cy="1999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6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6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Resultados e Impactos esperados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5" name="Google Shape;28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721" y="942942"/>
            <a:ext cx="10693957" cy="5940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7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7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Captura de Cargas Evidencia Fotográficas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4" name="Google Shape;29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691038"/>
            <a:ext cx="9144000" cy="4177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8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8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 41: Graficando Desviación de costos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74320" y="1143000"/>
            <a:ext cx="4023360" cy="685800"/>
          </a:xfrm>
          <a:prstGeom prst="roundRect">
            <a:avLst>
              <a:gd fmla="val 13333" name="adj"/>
            </a:avLst>
          </a:prstGeom>
          <a:solidFill>
            <a:srgbClr val="E3F2FD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7200" y="1252728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8"/>
          <p:cNvSpPr/>
          <p:nvPr/>
        </p:nvSpPr>
        <p:spPr>
          <a:xfrm>
            <a:off x="960120" y="11704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¿Por qué es destacado en nuestro ERP?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960120" y="148132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BI visual: cruza presupuesto planificado vs gastos reales en tiempo real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274320" y="193852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FLUJO PRINCIPAL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274320" y="23042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365760" y="23042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1. Actor accede a Finanzas → Control de Costos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274320" y="26700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365760" y="26700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2. Selecciona proyecto y período de análisis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274320" y="303580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365760" y="303580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3. Sistema suma gastos reales (facturas + personal)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274320" y="340156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365760" y="340156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4. Sistema calcula varianza financiera automáticamente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274320" y="376732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365760" y="376732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5. Genera curvas de costo en gráfico comparativo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274320" y="413308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E3F2FD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8"/>
          <p:cNvSpPr/>
          <p:nvPr/>
        </p:nvSpPr>
        <p:spPr>
          <a:xfrm>
            <a:off x="365760" y="413308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6. Muestra alertas si desviación negativa &gt; umbral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274320" y="4498848"/>
            <a:ext cx="4023360" cy="329184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 cap="flat" cmpd="sng" w="9525">
            <a:solidFill>
              <a:srgbClr val="D0D8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365760" y="4498848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7. Permite exportación del reporte de datos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4526280" y="1143000"/>
            <a:ext cx="4343400" cy="1161288"/>
          </a:xfrm>
          <a:prstGeom prst="roundRect">
            <a:avLst>
              <a:gd fmla="val 6667" name="adj"/>
            </a:avLst>
          </a:prstGeom>
          <a:solidFill>
            <a:srgbClr val="0D1B2A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4663440" y="120700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8D1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0288D1"/>
                </a:solidFill>
                <a:latin typeface="Arial"/>
                <a:ea typeface="Arial"/>
                <a:cs typeface="Arial"/>
                <a:sym typeface="Arial"/>
              </a:rPr>
              <a:t>DETALLES TÉCNICOS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663440" y="1325023"/>
            <a:ext cx="41148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Actor: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Administrador Total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Dependencia: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UR-F-45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Tecnología: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Recharts / Chart.js + Express + MySQL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Frecuencia:</a:t>
            </a:r>
            <a:r>
              <a:rPr lang="en-US" sz="105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  A demanda — seguimiento financiero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526280" y="2428473"/>
            <a:ext cx="4343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65C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1565C0"/>
                </a:solidFill>
                <a:latin typeface="Arial"/>
                <a:ea typeface="Arial"/>
                <a:cs typeface="Arial"/>
                <a:sym typeface="Arial"/>
              </a:rPr>
              <a:t>GRÁFICO DE DESVIACIÓN (REFERENCIA)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663440" y="2914167"/>
            <a:ext cx="640080" cy="658368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5349240" y="3023895"/>
            <a:ext cx="640080" cy="54864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8"/>
          <p:cNvSpPr/>
          <p:nvPr/>
        </p:nvSpPr>
        <p:spPr>
          <a:xfrm>
            <a:off x="4617720" y="3618255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Ene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6217920" y="2914167"/>
            <a:ext cx="640080" cy="658368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6903720" y="2804439"/>
            <a:ext cx="640080" cy="768096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8"/>
          <p:cNvSpPr/>
          <p:nvPr/>
        </p:nvSpPr>
        <p:spPr>
          <a:xfrm>
            <a:off x="6172200" y="3618255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Feb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772400" y="2914167"/>
            <a:ext cx="640080" cy="658368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8458200" y="2694711"/>
            <a:ext cx="640080" cy="877824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8"/>
          <p:cNvSpPr/>
          <p:nvPr/>
        </p:nvSpPr>
        <p:spPr>
          <a:xfrm>
            <a:off x="7726680" y="3618255"/>
            <a:ext cx="1325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Mar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4663440" y="3773703"/>
            <a:ext cx="201168" cy="137160"/>
          </a:xfrm>
          <a:prstGeom prst="rect">
            <a:avLst/>
          </a:prstGeom>
          <a:solidFill>
            <a:srgbClr val="0288D1"/>
          </a:solidFill>
          <a:ln cap="flat" cmpd="sng" w="12700">
            <a:solidFill>
              <a:srgbClr val="028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4892040" y="3773703"/>
            <a:ext cx="109728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Planificado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8"/>
          <p:cNvSpPr/>
          <p:nvPr/>
        </p:nvSpPr>
        <p:spPr>
          <a:xfrm>
            <a:off x="6126480" y="3773703"/>
            <a:ext cx="201168" cy="137160"/>
          </a:xfrm>
          <a:prstGeom prst="rect">
            <a:avLst/>
          </a:prstGeom>
          <a:solidFill>
            <a:srgbClr val="E53935"/>
          </a:solidFill>
          <a:ln cap="flat" cmpd="sng" w="12700">
            <a:solidFill>
              <a:srgbClr val="E539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8"/>
          <p:cNvSpPr/>
          <p:nvPr/>
        </p:nvSpPr>
        <p:spPr>
          <a:xfrm>
            <a:off x="6355080" y="3773703"/>
            <a:ext cx="118872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Real (excede)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7635240" y="3773703"/>
            <a:ext cx="201168" cy="137160"/>
          </a:xfrm>
          <a:prstGeom prst="rect">
            <a:avLst/>
          </a:prstGeom>
          <a:solidFill>
            <a:srgbClr val="66BB6A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8"/>
          <p:cNvSpPr/>
          <p:nvPr/>
        </p:nvSpPr>
        <p:spPr>
          <a:xfrm>
            <a:off x="7863840" y="3773703"/>
            <a:ext cx="9144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900"/>
              <a:buFont typeface="Arial"/>
              <a:buNone/>
            </a:pPr>
            <a:r>
              <a:rPr lang="en-US" sz="900">
                <a:solidFill>
                  <a:srgbClr val="0D1B2A"/>
                </a:solidFill>
                <a:latin typeface="Arial"/>
                <a:ea typeface="Arial"/>
                <a:cs typeface="Arial"/>
                <a:sym typeface="Arial"/>
              </a:rPr>
              <a:t>Real (ok)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4526280" y="4029735"/>
            <a:ext cx="4343400" cy="384048"/>
          </a:xfrm>
          <a:prstGeom prst="roundRect">
            <a:avLst>
              <a:gd fmla="val 14286" name="adj"/>
            </a:avLst>
          </a:prstGeom>
          <a:solidFill>
            <a:srgbClr val="E8F5E9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8"/>
          <p:cNvSpPr/>
          <p:nvPr/>
        </p:nvSpPr>
        <p:spPr>
          <a:xfrm>
            <a:off x="4617720" y="4075455"/>
            <a:ext cx="4160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950"/>
              <a:buFont typeface="Arial"/>
              <a:buNone/>
            </a:pPr>
            <a:r>
              <a:rPr lang="en-US" sz="950">
                <a:solidFill>
                  <a:srgbClr val="1B5E20"/>
                </a:solidFill>
                <a:latin typeface="Arial"/>
                <a:ea typeface="Arial"/>
                <a:cs typeface="Arial"/>
                <a:sym typeface="Arial"/>
              </a:rPr>
              <a:t>POSTCONDICIÓN: Reporte visual con indicadores de desviación disponible para exportación.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8"/>
          <p:cNvSpPr/>
          <p:nvPr/>
        </p:nvSpPr>
        <p:spPr>
          <a:xfrm>
            <a:off x="274320" y="4828032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4" name="Google Shape;34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460" y="5012733"/>
            <a:ext cx="3977640" cy="1404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4227" y="4368063"/>
            <a:ext cx="3710763" cy="2277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9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9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Presupuesto (honorarios y gastos de operación)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54" name="Google Shape;354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578" y="931686"/>
            <a:ext cx="9656109" cy="592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10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0"/>
          <p:cNvSpPr txBox="1"/>
          <p:nvPr/>
        </p:nvSpPr>
        <p:spPr>
          <a:xfrm>
            <a:off x="108721" y="89553"/>
            <a:ext cx="780435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Plan de trabajo (Carta Gantt)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363" name="Google Shape;36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1536013"/>
            <a:ext cx="9144000" cy="4126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11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1"/>
          <p:cNvSpPr txBox="1"/>
          <p:nvPr/>
        </p:nvSpPr>
        <p:spPr>
          <a:xfrm>
            <a:off x="108722" y="158734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Vistas Arquitectónicas 4+1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34188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3" name="Google Shape;37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142" y="1889321"/>
            <a:ext cx="393192" cy="39319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1"/>
          <p:cNvSpPr/>
          <p:nvPr/>
        </p:nvSpPr>
        <p:spPr>
          <a:xfrm>
            <a:off x="341884" y="216821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Lógica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34188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clases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Modelo BD MySQL (3FN)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506476" y="3288353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[INSERTAR DIAGRAMA]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322224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0083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58820" y="1911223"/>
            <a:ext cx="333248" cy="333248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1"/>
          <p:cNvSpPr/>
          <p:nvPr/>
        </p:nvSpPr>
        <p:spPr>
          <a:xfrm>
            <a:off x="3222244" y="216768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 Proceso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322224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17 Diagramas de secuencia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(uno por CU)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1"/>
          <p:cNvSpPr/>
          <p:nvPr/>
        </p:nvSpPr>
        <p:spPr>
          <a:xfrm>
            <a:off x="3386836" y="3288353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[INSERTAR DIAGRAMA]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6102604" y="1825313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6A1B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2896" y="1871033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1"/>
          <p:cNvSpPr/>
          <p:nvPr/>
        </p:nvSpPr>
        <p:spPr>
          <a:xfrm>
            <a:off x="6102604" y="2145353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Desarrollo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6102604" y="2556833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componentes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React + Node + MySQL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267196" y="3288353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[INSERTAR DIAGRAMA]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1"/>
          <p:cNvSpPr/>
          <p:nvPr/>
        </p:nvSpPr>
        <p:spPr>
          <a:xfrm>
            <a:off x="1654578" y="3981606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B71C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74650" y="4084741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1"/>
          <p:cNvSpPr/>
          <p:nvPr/>
        </p:nvSpPr>
        <p:spPr>
          <a:xfrm>
            <a:off x="1654578" y="4210726"/>
            <a:ext cx="2606040" cy="595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Física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1674650" y="4621686"/>
            <a:ext cx="2585967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VPS + Nginx + Ubuntu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1856254" y="5444646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[INSERTAR DIAGRAMA]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964176" y="4007592"/>
            <a:ext cx="2606040" cy="1691640"/>
          </a:xfrm>
          <a:prstGeom prst="roundRect">
            <a:avLst>
              <a:gd fmla="val 6486" name="adj"/>
            </a:avLst>
          </a:prstGeom>
          <a:solidFill>
            <a:srgbClr val="1A2744"/>
          </a:solidFill>
          <a:ln cap="flat" cmpd="sng" w="19050">
            <a:solidFill>
              <a:srgbClr val="E65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49023" y="4053323"/>
            <a:ext cx="429768" cy="429768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1"/>
          <p:cNvSpPr/>
          <p:nvPr/>
        </p:nvSpPr>
        <p:spPr>
          <a:xfrm>
            <a:off x="4964176" y="4369508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Vista Externa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4991608" y="4692449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Casos de Uso extendidos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3F2FD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E3F2FD"/>
                </a:solidFill>
                <a:latin typeface="Arial"/>
                <a:ea typeface="Arial"/>
                <a:cs typeface="Arial"/>
                <a:sym typeface="Arial"/>
              </a:rPr>
              <a:t>(17 CU del incremento)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5128768" y="5490366"/>
            <a:ext cx="2331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800"/>
              <a:buFont typeface="Arial"/>
              <a:buNone/>
            </a:pPr>
            <a:r>
              <a:rPr i="1" lang="en-US" sz="8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[INSERTAR DIAGRAMA]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13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 txBox="1"/>
          <p:nvPr/>
        </p:nvSpPr>
        <p:spPr>
          <a:xfrm>
            <a:off x="108721" y="89553"/>
            <a:ext cx="8207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r>
              <a:rPr b="1" lang="en-US" sz="24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Antecedentes/Resultados/Avances Previos (Si los hay)</a:t>
            </a:r>
            <a:endParaRPr b="1" i="0" sz="1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405" name="Google Shape;405;p13"/>
          <p:cNvGrpSpPr/>
          <p:nvPr/>
        </p:nvGrpSpPr>
        <p:grpSpPr>
          <a:xfrm>
            <a:off x="108721" y="1133856"/>
            <a:ext cx="4280399" cy="5504688"/>
            <a:chOff x="274320" y="1417320"/>
            <a:chExt cx="4114800" cy="3474720"/>
          </a:xfrm>
        </p:grpSpPr>
        <p:sp>
          <p:nvSpPr>
            <p:cNvPr id="406" name="Google Shape;406;p13"/>
            <p:cNvSpPr/>
            <p:nvPr/>
          </p:nvSpPr>
          <p:spPr>
            <a:xfrm>
              <a:off x="274320" y="1417320"/>
              <a:ext cx="4114800" cy="347472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457200" y="1508760"/>
              <a:ext cx="3749040" cy="320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0288D1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0288D1"/>
                  </a:solidFill>
                  <a:latin typeface="Arial"/>
                  <a:ea typeface="Arial"/>
                  <a:cs typeface="Arial"/>
                  <a:sym typeface="Arial"/>
                </a:rPr>
                <a:t>ESTRUCTURA DE CADA PRUEBA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365760" y="1920240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457200" y="192024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ID Prueba: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1920240" y="192024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PT-XX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365760" y="2340864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457200" y="234086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Asociado: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1920240" y="234086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CU XX: Nombre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365760" y="2761488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457200" y="2761488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Datos de Entrada: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1920240" y="2761488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Valores ingresados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365760" y="3182112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457200" y="3182112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Esperado: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1920240" y="3182112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Comportamiento esperado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365760" y="3602736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457200" y="3602736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Resultado Obtenido: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1920240" y="3602736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Respuesta real del sistema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365760" y="4023360"/>
              <a:ext cx="3931920" cy="384048"/>
            </a:xfrm>
            <a:prstGeom prst="rect">
              <a:avLst/>
            </a:prstGeom>
            <a:solidFill>
              <a:srgbClr val="1F2E4A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457200" y="4023360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Estado: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1920240" y="4023360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APROBADA / RECHAZADA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365760" y="4443984"/>
              <a:ext cx="3931920" cy="384048"/>
            </a:xfrm>
            <a:prstGeom prst="rect">
              <a:avLst/>
            </a:prstGeom>
            <a:solidFill>
              <a:srgbClr val="1A2744"/>
            </a:solidFill>
            <a:ln cap="flat" cmpd="sng" w="9525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457200" y="4443984"/>
              <a:ext cx="146304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000"/>
                <a:buFont typeface="Arial"/>
                <a:buNone/>
              </a:pPr>
              <a:r>
                <a:rPr b="1" lang="en-US" sz="10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Evidencia: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1920240" y="4443984"/>
              <a:ext cx="2286000" cy="3840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E3F2FD"/>
                </a:buClr>
                <a:buSzPts val="1000"/>
                <a:buFont typeface="Arial"/>
                <a:buNone/>
              </a:pPr>
              <a:r>
                <a:rPr lang="en-US" sz="1000">
                  <a:solidFill>
                    <a:srgbClr val="E3F2FD"/>
                  </a:solidFill>
                  <a:latin typeface="Arial"/>
                  <a:ea typeface="Arial"/>
                  <a:cs typeface="Arial"/>
                  <a:sym typeface="Arial"/>
                </a:rPr>
                <a:t>Captura de pantalla</a:t>
              </a:r>
              <a:endParaRPr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9" name="Google Shape;429;p13"/>
          <p:cNvGrpSpPr/>
          <p:nvPr/>
        </p:nvGrpSpPr>
        <p:grpSpPr>
          <a:xfrm>
            <a:off x="4557668" y="1133856"/>
            <a:ext cx="4477610" cy="5504688"/>
            <a:chOff x="4561308" y="1417320"/>
            <a:chExt cx="4206240" cy="3749040"/>
          </a:xfrm>
        </p:grpSpPr>
        <p:sp>
          <p:nvSpPr>
            <p:cNvPr id="430" name="Google Shape;430;p13"/>
            <p:cNvSpPr/>
            <p:nvPr/>
          </p:nvSpPr>
          <p:spPr>
            <a:xfrm>
              <a:off x="4617720" y="1417320"/>
              <a:ext cx="4114800" cy="3749040"/>
            </a:xfrm>
            <a:prstGeom prst="roundRect">
              <a:avLst>
                <a:gd fmla="val 3158" name="adj"/>
              </a:avLst>
            </a:prstGeom>
            <a:solidFill>
              <a:srgbClr val="1A2744"/>
            </a:solidFill>
            <a:ln cap="flat" cmpd="sng" w="12700">
              <a:solidFill>
                <a:srgbClr val="0288D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4561308" y="1417320"/>
              <a:ext cx="4206240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rgbClr val="FFB300"/>
                </a:buClr>
                <a:buSzPts val="1100"/>
                <a:buFont typeface="Arial"/>
                <a:buNone/>
              </a:pPr>
              <a:r>
                <a:rPr b="1" lang="en-US" sz="1100">
                  <a:solidFill>
                    <a:srgbClr val="FFB300"/>
                  </a:solidFill>
                  <a:latin typeface="Arial"/>
                  <a:ea typeface="Arial"/>
                  <a:cs typeface="Arial"/>
                  <a:sym typeface="Arial"/>
                </a:rPr>
                <a:t>CU PRIORITARIOS EN PRUEBAS</a:t>
              </a:r>
              <a:endPara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2" name="Google Shape;432;p13"/>
            <p:cNvGrpSpPr/>
            <p:nvPr/>
          </p:nvGrpSpPr>
          <p:grpSpPr>
            <a:xfrm>
              <a:off x="4663440" y="1828800"/>
              <a:ext cx="3959352" cy="3200400"/>
              <a:chOff x="4663440" y="1828800"/>
              <a:chExt cx="4206240" cy="3200400"/>
            </a:xfrm>
          </p:grpSpPr>
          <p:sp>
            <p:nvSpPr>
              <p:cNvPr id="433" name="Google Shape;433;p13"/>
              <p:cNvSpPr/>
              <p:nvPr/>
            </p:nvSpPr>
            <p:spPr>
              <a:xfrm>
                <a:off x="4663440" y="1828800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3"/>
              <p:cNvSpPr/>
              <p:nvPr/>
            </p:nvSpPr>
            <p:spPr>
              <a:xfrm>
                <a:off x="4754880" y="1828800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16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13"/>
              <p:cNvSpPr/>
              <p:nvPr/>
            </p:nvSpPr>
            <p:spPr>
              <a:xfrm>
                <a:off x="5440680" y="1874520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Carga de evidencias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13"/>
              <p:cNvSpPr/>
              <p:nvPr/>
            </p:nvSpPr>
            <p:spPr>
              <a:xfrm>
                <a:off x="5440680" y="2130552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GPS + cámara móvil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4663440" y="2487168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4754880" y="2487168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41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3"/>
              <p:cNvSpPr/>
              <p:nvPr/>
            </p:nvSpPr>
            <p:spPr>
              <a:xfrm>
                <a:off x="5440680" y="2532888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Gráfico desviación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3"/>
              <p:cNvSpPr/>
              <p:nvPr/>
            </p:nvSpPr>
            <p:spPr>
              <a:xfrm>
                <a:off x="5440680" y="2788920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Cálculo financiero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3"/>
              <p:cNvSpPr/>
              <p:nvPr/>
            </p:nvSpPr>
            <p:spPr>
              <a:xfrm>
                <a:off x="4663440" y="3145536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3"/>
              <p:cNvSpPr/>
              <p:nvPr/>
            </p:nvSpPr>
            <p:spPr>
              <a:xfrm>
                <a:off x="4754880" y="3145536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35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13"/>
              <p:cNvSpPr/>
              <p:nvPr/>
            </p:nvSpPr>
            <p:spPr>
              <a:xfrm>
                <a:off x="5440680" y="3191256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Orden de Compra auto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3"/>
              <p:cNvSpPr/>
              <p:nvPr/>
            </p:nvSpPr>
            <p:spPr>
              <a:xfrm>
                <a:off x="5440680" y="3447288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Flujo transaccional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3"/>
              <p:cNvSpPr/>
              <p:nvPr/>
            </p:nvSpPr>
            <p:spPr>
              <a:xfrm>
                <a:off x="4663440" y="3803904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3"/>
              <p:cNvSpPr/>
              <p:nvPr/>
            </p:nvSpPr>
            <p:spPr>
              <a:xfrm>
                <a:off x="4754880" y="3803904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57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13"/>
              <p:cNvSpPr/>
              <p:nvPr/>
            </p:nvSpPr>
            <p:spPr>
              <a:xfrm>
                <a:off x="5440680" y="3849624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Incidentes SSO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13"/>
              <p:cNvSpPr/>
              <p:nvPr/>
            </p:nvSpPr>
            <p:spPr>
              <a:xfrm>
                <a:off x="5440680" y="4105656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Seguridad ocupacional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13"/>
              <p:cNvSpPr/>
              <p:nvPr/>
            </p:nvSpPr>
            <p:spPr>
              <a:xfrm>
                <a:off x="4663440" y="4462272"/>
                <a:ext cx="4206240" cy="566928"/>
              </a:xfrm>
              <a:prstGeom prst="roundRect">
                <a:avLst>
                  <a:gd fmla="val 12903" name="adj"/>
                </a:avLst>
              </a:prstGeom>
              <a:solidFill>
                <a:srgbClr val="1A2744"/>
              </a:solidFill>
              <a:ln cap="flat" cmpd="sng" w="10150">
                <a:solidFill>
                  <a:srgbClr val="0288D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0" name="Google Shape;450;p13"/>
              <p:cNvSpPr/>
              <p:nvPr/>
            </p:nvSpPr>
            <p:spPr>
              <a:xfrm>
                <a:off x="4754880" y="4462272"/>
                <a:ext cx="64008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Clr>
                    <a:srgbClr val="FFB300"/>
                  </a:buClr>
                  <a:buSzPts val="1300"/>
                  <a:buFont typeface="Arial"/>
                  <a:buNone/>
                </a:pPr>
                <a:r>
                  <a:rPr b="1" lang="en-US" sz="1300">
                    <a:solidFill>
                      <a:srgbClr val="FFB300"/>
                    </a:solidFill>
                    <a:latin typeface="Arial"/>
                    <a:ea typeface="Arial"/>
                    <a:cs typeface="Arial"/>
                    <a:sym typeface="Arial"/>
                  </a:rPr>
                  <a:t>CU 54</a:t>
                </a:r>
                <a:endParaRPr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1" name="Google Shape;451;p13"/>
              <p:cNvSpPr/>
              <p:nvPr/>
            </p:nvSpPr>
            <p:spPr>
              <a:xfrm>
                <a:off x="5440680" y="4507992"/>
                <a:ext cx="3291840" cy="2560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050"/>
                  <a:buFont typeface="Arial"/>
                  <a:buNone/>
                </a:pPr>
                <a:r>
                  <a:rPr b="1" lang="en-US" sz="10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Control cambios ppto.</a:t>
                </a:r>
                <a:endParaRPr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2" name="Google Shape;452;p13"/>
              <p:cNvSpPr/>
              <p:nvPr/>
            </p:nvSpPr>
            <p:spPr>
              <a:xfrm>
                <a:off x="5440680" y="4764024"/>
                <a:ext cx="329184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E3F2FD"/>
                  </a:buClr>
                  <a:buSzPts val="950"/>
                  <a:buFont typeface="Arial"/>
                  <a:buNone/>
                </a:pPr>
                <a:r>
                  <a:rPr i="1" lang="en-US" sz="950">
                    <a:solidFill>
                      <a:srgbClr val="E3F2FD"/>
                    </a:solidFill>
                    <a:latin typeface="Arial"/>
                    <a:ea typeface="Arial"/>
                    <a:cs typeface="Arial"/>
                    <a:sym typeface="Arial"/>
                  </a:rPr>
                  <a:t>Trazabilidad log</a:t>
                </a:r>
                <a:endParaRPr sz="9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14"/>
          <p:cNvPicPr preferRelativeResize="0"/>
          <p:nvPr/>
        </p:nvPicPr>
        <p:blipFill rotWithShape="1">
          <a:blip r:embed="rId3">
            <a:alphaModFix/>
          </a:blip>
          <a:srcRect b="51651" l="-153" r="153" t="20538"/>
          <a:stretch/>
        </p:blipFill>
        <p:spPr>
          <a:xfrm>
            <a:off x="-14013" y="1"/>
            <a:ext cx="9172026" cy="802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6024" y="89553"/>
            <a:ext cx="719254" cy="6000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0" name="Google Shape;46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886200" y="2029969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4"/>
          <p:cNvSpPr/>
          <p:nvPr/>
        </p:nvSpPr>
        <p:spPr>
          <a:xfrm>
            <a:off x="446051" y="3585021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30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FFB300"/>
                </a:solidFill>
                <a:latin typeface="Arial"/>
                <a:ea typeface="Arial"/>
                <a:cs typeface="Arial"/>
                <a:sym typeface="Arial"/>
              </a:rPr>
              <a:t>PRIMER INCREMENTO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457200" y="4063222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30% COMPLETADO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4"/>
          <p:cNvSpPr/>
          <p:nvPr/>
        </p:nvSpPr>
        <p:spPr>
          <a:xfrm>
            <a:off x="446051" y="4770023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i="1" lang="en-US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 Casos de Uso  ·  138 HH  ·  4 Módulos  ·  Sistema ERP ATI Termic SpA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2018-06-26T20:44:09Z</dcterms:created>
  <dc:creator>Usuario de Microsoft Office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0x01010023E636E5ADFFDD4593589394D25615CE</vt:lpwstr>
  </property>
</Properties>
</file>